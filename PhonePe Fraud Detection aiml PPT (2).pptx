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93" dt="2026-09-17T12:44:09.174"/>
    <p1510:client id="{11D70FAC-79D4-3FA5-F2CA-8A2B1307645B}" v="201" dt="2026-09-17T11:55:16.157"/>
    <p1510:client id="{1255850A-9A41-9799-0FCB-89424C218D2F}" v="76" dt="2026-09-17T12:17:27.974"/>
    <p1510:client id="{4A290532-0CEF-A7D3-5B93-2357FDD77FF3}" v="10" dt="2026-09-17T13:55:02.281"/>
    <p1510:client id="{56979A41-1A33-25D0-3B91-96ED414D4106}" v="123" dt="2026-09-17T12:58:35.345"/>
    <p1510:client id="{5F9804CE-5A3A-1E41-6C95-F597B7F2B98E}" v="254" dt="2026-09-17T13:55:00.511"/>
    <p1510:client id="{67B68334-5201-4909-9742-4C60CD20E361}" v="74" dt="2026-09-17T13:58:31.098"/>
    <p1510:client id="{9A58E238-4C93-3FA2-6B3E-9C69F827DF27}" v="63" dt="2026-09-17T11:46:17.130"/>
    <p1510:client id="{A5A4E778-7E08-DDBE-E055-8761F77B24E8}" v="57" dt="2026-09-17T13:19:36.831"/>
    <p1510:client id="{D8716038-7C35-6103-5DCF-CA5CECC56558}" v="90" dt="2026-09-17T12:14:50.7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97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65BBA-9643-41D3-A379-E99E9E5F8B5D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986F0D-AEBB-4316-8547-C0D3EEA99F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278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3810" y="-36286"/>
            <a:ext cx="6903720" cy="6858000"/>
          </a:xfrm>
          <a:prstGeom prst="rect">
            <a:avLst/>
          </a:prstGeom>
          <a:solidFill>
            <a:srgbClr val="091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90124" y="-2015744"/>
            <a:ext cx="3291840" cy="3291840"/>
          </a:xfrm>
          <a:prstGeom prst="ellipse">
            <a:avLst/>
          </a:prstGeom>
          <a:solidFill>
            <a:srgbClr val="2A6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832096" y="5573777"/>
            <a:ext cx="2560320" cy="2560320"/>
          </a:xfrm>
          <a:prstGeom prst="ellipse">
            <a:avLst/>
          </a:prstGeom>
          <a:solidFill>
            <a:srgbClr val="2A6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566928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 i="0">
                <a:solidFill>
                  <a:srgbClr val="A4BEFF"/>
                </a:solidFill>
                <a:latin typeface="Aptos"/>
              </a:rPr>
              <a:t>BUSINESS AI / ML  • 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548640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700" b="1" i="0">
                <a:solidFill>
                  <a:srgbClr val="FFFFFF"/>
                </a:solidFill>
                <a:latin typeface="Georgia"/>
              </a:rPr>
              <a:t>AI-Powered
Fraud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04288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in Digital Payments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 i="1">
                <a:solidFill>
                  <a:srgbClr val="C9D8F7"/>
                </a:solidFill>
                <a:latin typeface="Aptos"/>
              </a:rPr>
              <a:t>A Case Study of PhonePe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41648"/>
            <a:ext cx="1417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70832"/>
            <a:ext cx="1554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i="0">
                <a:solidFill>
                  <a:srgbClr val="AABEDC"/>
                </a:solidFill>
                <a:latin typeface="Aptos"/>
              </a:rPr>
              <a:t>Transactions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0552" y="4096512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i="0">
                <a:solidFill>
                  <a:srgbClr val="2A66E1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041648"/>
            <a:ext cx="1417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AI /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370832"/>
            <a:ext cx="1554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i="0">
                <a:solidFill>
                  <a:srgbClr val="AABEDC"/>
                </a:solidFill>
                <a:latin typeface="Aptos"/>
              </a:rPr>
              <a:t>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4096512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i="0">
                <a:solidFill>
                  <a:srgbClr val="2A66E1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041648"/>
            <a:ext cx="1417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370832"/>
            <a:ext cx="1554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i="0">
                <a:solidFill>
                  <a:srgbClr val="AABEDC"/>
                </a:solidFill>
                <a:latin typeface="Aptos"/>
              </a:rPr>
              <a:t>Risk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144768"/>
            <a:ext cx="4846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i="0">
                <a:solidFill>
                  <a:srgbClr val="AABEDC"/>
                </a:solidFill>
                <a:latin typeface="Aptos"/>
              </a:rPr>
              <a:t>BBA FinTech  |  Chitkara University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658368"/>
            <a:ext cx="2011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>
                <a:solidFill>
                  <a:srgbClr val="2A66E1"/>
                </a:solidFill>
                <a:latin typeface="Aptos"/>
              </a:rPr>
              <a:t>SUBMITTED 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978629"/>
            <a:ext cx="3018712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200" b="1" i="0">
                <a:solidFill>
                  <a:srgbClr val="091834"/>
                </a:solidFill>
                <a:latin typeface="Aptos"/>
              </a:rPr>
              <a:t>Team Members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88352" y="1627632"/>
            <a:ext cx="4069080" cy="438912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0" y="1636776"/>
            <a:ext cx="1143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i="0">
                <a:solidFill>
                  <a:srgbClr val="091834"/>
                </a:solidFill>
                <a:latin typeface="Aptos"/>
              </a:rPr>
              <a:t>Angel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1690300"/>
            <a:ext cx="1002197" cy="276999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l"/>
            <a:r>
              <a:rPr sz="1200" b="0" i="0">
                <a:latin typeface="Aptos"/>
              </a:rPr>
              <a:t>2520992529</a:t>
            </a:r>
            <a:endParaRPr lang="en-US" sz="1200" b="0" i="0"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388352" y="2194560"/>
            <a:ext cx="4069080" cy="438912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0" y="2203703"/>
            <a:ext cx="1143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i="0">
                <a:solidFill>
                  <a:srgbClr val="091834"/>
                </a:solidFill>
                <a:latin typeface="Aptos"/>
              </a:rPr>
              <a:t>Ayushi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2257227"/>
            <a:ext cx="1002197" cy="276999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l"/>
            <a:r>
              <a:rPr sz="1200" b="0" i="0">
                <a:latin typeface="Aptos"/>
              </a:rPr>
              <a:t>2520992558</a:t>
            </a:r>
            <a:endParaRPr lang="en-US" sz="1200" b="0" i="0"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388352" y="2761488"/>
            <a:ext cx="4069080" cy="438912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0" y="2770632"/>
            <a:ext cx="1143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i="0">
                <a:solidFill>
                  <a:srgbClr val="091834"/>
                </a:solidFill>
                <a:latin typeface="Aptos"/>
              </a:rPr>
              <a:t>Arpita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2824156"/>
            <a:ext cx="1002197" cy="276999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l"/>
            <a:r>
              <a:rPr sz="1200" b="0" i="0">
                <a:latin typeface="Aptos"/>
              </a:rPr>
              <a:t>2520992543</a:t>
            </a:r>
            <a:endParaRPr lang="en-US" sz="1200" b="0" i="0"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388352" y="3328415"/>
            <a:ext cx="4069080" cy="438912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89520" y="3337559"/>
            <a:ext cx="1143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i="0">
                <a:solidFill>
                  <a:srgbClr val="091834"/>
                </a:solidFill>
                <a:latin typeface="Aptos"/>
              </a:rPr>
              <a:t>Arshita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3391083"/>
            <a:ext cx="1002197" cy="276999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l"/>
            <a:r>
              <a:rPr sz="1200" b="0" i="0">
                <a:latin typeface="Aptos"/>
              </a:rPr>
              <a:t>2520992546</a:t>
            </a:r>
            <a:endParaRPr lang="en-US" sz="1200" b="0" i="0"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388352" y="3895344"/>
            <a:ext cx="4069080" cy="438912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89520" y="3904487"/>
            <a:ext cx="1143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i="0">
                <a:solidFill>
                  <a:srgbClr val="091834"/>
                </a:solidFill>
                <a:latin typeface="Aptos"/>
              </a:rPr>
              <a:t>Ankita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3958011"/>
            <a:ext cx="1002197" cy="276999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l"/>
            <a:r>
              <a:rPr sz="1200" b="0" i="0">
                <a:latin typeface="Aptos"/>
              </a:rPr>
              <a:t>2520992533</a:t>
            </a:r>
            <a:endParaRPr lang="en-US" sz="1200" b="0" i="0">
              <a:latin typeface="Apto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388352" y="4462272"/>
            <a:ext cx="4069080" cy="438912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89520" y="4471416"/>
            <a:ext cx="1143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i="0">
                <a:solidFill>
                  <a:srgbClr val="091834"/>
                </a:solidFill>
                <a:latin typeface="Aptos"/>
              </a:rPr>
              <a:t>Aniketa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4524940"/>
            <a:ext cx="1002197" cy="276999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l"/>
            <a:r>
              <a:rPr sz="1200" b="0" i="0">
                <a:latin typeface="Aptos"/>
              </a:rPr>
              <a:t>2520992531</a:t>
            </a:r>
            <a:endParaRPr lang="en-US" sz="1200" b="0" i="0">
              <a:latin typeface="Apto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388352" y="5029200"/>
            <a:ext cx="4069080" cy="438912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0" y="5038344"/>
            <a:ext cx="1143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i="0">
                <a:solidFill>
                  <a:srgbClr val="091834"/>
                </a:solidFill>
                <a:latin typeface="Aptos"/>
              </a:rPr>
              <a:t>Anchit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5091868"/>
            <a:ext cx="1002197" cy="276999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l"/>
            <a:r>
              <a:rPr sz="1200" b="0" i="0">
                <a:latin typeface="Aptos"/>
              </a:rPr>
              <a:t>2520992527</a:t>
            </a:r>
            <a:endParaRPr lang="en-US" sz="1200" b="0" i="0">
              <a:latin typeface="Aptos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452360" y="5806440"/>
            <a:ext cx="3566160" cy="22860"/>
          </a:xfrm>
          <a:prstGeom prst="rect">
            <a:avLst/>
          </a:prstGeom>
          <a:solidFill>
            <a:srgbClr val="2A6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52360" y="5947056"/>
            <a:ext cx="2053767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 i="0">
                <a:latin typeface="Aptos"/>
              </a:rPr>
              <a:t>AI • SECURITY • DIGITAL PAYMENTS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30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CAABE"/>
                </a:solidFill>
              </a:defRPr>
            </a:pPr>
            <a:r>
              <a:rPr lang="en-US" sz="1400"/>
              <a:t>01 • COMPANY /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6048900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rPr lang="en-US" sz="3600"/>
              <a:t>Company &amp; Industry Overview</a:t>
            </a:r>
            <a:endParaRPr lang="en-US" sz="3600"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9768C"/>
                </a:solidFill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685800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64008" cy="1828800"/>
          </a:xfrm>
          <a:prstGeom prst="rect">
            <a:avLst/>
          </a:prstGeom>
          <a:solidFill>
            <a:srgbClr val="2A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645919"/>
            <a:ext cx="476521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F37"/>
                </a:solidFill>
              </a:defRPr>
            </a:pPr>
            <a:r>
              <a:rPr sz="2000"/>
              <a:t>PhonePe: India’s Digital Payments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39112"/>
            <a:ext cx="65105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02734"/>
                </a:solidFill>
              </a:defRPr>
            </a:pPr>
            <a:r>
              <a:rPr sz="1600"/>
              <a:t>PhonePe is an Indian fintech and digital payments platform offering UPI payments, bill payments, merchant payments and access to financial services. It operates in a high-volume, real-time digital payments environment where trust and security are critical.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379476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26679" y="1508760"/>
            <a:ext cx="64008" cy="1828800"/>
          </a:xfrm>
          <a:prstGeom prst="rect">
            <a:avLst/>
          </a:prstGeom>
          <a:solidFill>
            <a:srgbClr val="2C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27848" y="1645919"/>
            <a:ext cx="195431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F37"/>
                </a:solidFill>
              </a:defRPr>
            </a:pPr>
            <a:r>
              <a:rPr sz="2000"/>
              <a:t>Industry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7848" y="2039112"/>
            <a:ext cx="344728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02734"/>
                </a:solidFill>
              </a:defRPr>
            </a:pPr>
            <a:r>
              <a:rPr sz="1400"/>
              <a:t>FinTech / Digital Payments</a:t>
            </a:r>
            <a:br>
              <a:rPr sz="1400"/>
            </a:br>
            <a:r>
              <a:rPr sz="1400"/>
              <a:t>• Mobile-first transactions</a:t>
            </a:r>
            <a:br>
              <a:rPr sz="1400"/>
            </a:br>
            <a:r>
              <a:rPr sz="1400"/>
              <a:t>• Real-time processing</a:t>
            </a:r>
            <a:br>
              <a:rPr sz="1400"/>
            </a:br>
            <a:r>
              <a:rPr sz="1400"/>
              <a:t>• High fraud exposure</a:t>
            </a:r>
            <a:br>
              <a:rPr sz="1400"/>
            </a:br>
            <a:r>
              <a:rPr sz="1400"/>
              <a:t>• Strong need for 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57600"/>
            <a:ext cx="342900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657600"/>
            <a:ext cx="64008" cy="1417320"/>
          </a:xfrm>
          <a:prstGeom prst="rect">
            <a:avLst/>
          </a:prstGeom>
          <a:solidFill>
            <a:srgbClr val="2A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3794760"/>
            <a:ext cx="30815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F37"/>
                </a:solidFill>
              </a:defRPr>
            </a:pPr>
            <a:r>
              <a:t>71.8 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187952"/>
            <a:ext cx="30815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734"/>
                </a:solidFill>
              </a:defRPr>
            </a:pPr>
            <a:r>
              <a:rPr sz="1600"/>
              <a:t>Registered users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657600"/>
            <a:ext cx="342900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97680" y="3657600"/>
            <a:ext cx="64008" cy="1417320"/>
          </a:xfrm>
          <a:prstGeom prst="rect">
            <a:avLst/>
          </a:prstGeom>
          <a:solidFill>
            <a:srgbClr val="269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98848" y="3794760"/>
            <a:ext cx="30815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F37"/>
                </a:solidFill>
              </a:defRPr>
            </a:pPr>
            <a:r>
              <a:t>5 Cr+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4187952"/>
            <a:ext cx="30815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734"/>
                </a:solidFill>
              </a:defRPr>
            </a:pPr>
            <a:r>
              <a:rPr sz="1600"/>
              <a:t>Merchants accepting PhonePe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3657600"/>
            <a:ext cx="35661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55279" y="3657600"/>
            <a:ext cx="64008" cy="1417320"/>
          </a:xfrm>
          <a:prstGeom prst="rect">
            <a:avLst/>
          </a:prstGeom>
          <a:solidFill>
            <a:srgbClr val="DB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56448" y="3794760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1F37"/>
                </a:solidFill>
              </a:defRPr>
            </a:pPr>
            <a:r>
              <a:t>Guardian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4187952"/>
            <a:ext cx="32186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02734"/>
                </a:solidFill>
              </a:defRPr>
            </a:pPr>
            <a:r>
              <a:rPr sz="1600"/>
              <a:t>Risk &amp; fraud-detection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2452916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defRPr sz="800">
                <a:solidFill>
                  <a:srgbClr val="69768C"/>
                </a:solidFill>
              </a:defRPr>
            </a:pPr>
            <a:r>
              <a:t>PhonePe — AI-Powered Fraud Detection </a:t>
            </a:r>
            <a:r>
              <a:rPr lang="en-US" sz="1200"/>
              <a:t>Case</a:t>
            </a:r>
            <a:r>
              <a:t> Study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04229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CAABE"/>
                </a:solidFill>
              </a:defRPr>
            </a:pPr>
            <a:r>
              <a:rPr lang="en-US" sz="1400"/>
              <a:t>02 •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853470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rPr sz="3600" dirty="0"/>
              <a:t>Real-Time Fraud Detection Without Friction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9768C"/>
                </a:solidFill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881360" cy="1051560"/>
          </a:xfrm>
          <a:prstGeom prst="roundRect">
            <a:avLst/>
          </a:prstGeom>
          <a:solidFill>
            <a:srgbClr val="14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6624" y="1595663"/>
            <a:ext cx="80784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2000" dirty="0"/>
              <a:t>How can PhonePe identify and prevent potentially fraudulent transactions in real time — while keeping genuine payments convenient?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88920"/>
            <a:ext cx="3429000" cy="224028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788920"/>
            <a:ext cx="64008" cy="2240280"/>
          </a:xfrm>
          <a:prstGeom prst="rect">
            <a:avLst/>
          </a:prstGeom>
          <a:solidFill>
            <a:srgbClr val="C4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926079"/>
            <a:ext cx="292721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F37"/>
                </a:solidFill>
              </a:defRPr>
            </a:pPr>
            <a:r>
              <a:rPr sz="2000" dirty="0">
                <a:highlight>
                  <a:srgbClr val="C0C0C0"/>
                </a:highlight>
              </a:rPr>
              <a:t>Why the problem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319272"/>
            <a:ext cx="3081528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02734"/>
                </a:solidFill>
              </a:defRPr>
            </a:pPr>
            <a:r>
              <a:rPr sz="1600" dirty="0"/>
              <a:t>Digital payment fraud can cause financial loss, customer dissatisfaction and reduced trust. The system must make fast decisions while handling very large transaction volumes.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788920"/>
            <a:ext cx="3429000" cy="224028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2788920"/>
            <a:ext cx="64008" cy="2240280"/>
          </a:xfrm>
          <a:prstGeom prst="rect">
            <a:avLst/>
          </a:prstGeom>
          <a:solidFill>
            <a:srgbClr val="DB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926079"/>
            <a:ext cx="275678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F37"/>
                </a:solidFill>
              </a:defRPr>
            </a:pPr>
            <a:r>
              <a:rPr sz="2000" dirty="0">
                <a:highlight>
                  <a:srgbClr val="808080"/>
                </a:highlight>
              </a:rPr>
              <a:t>Fraud patterns to detect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319272"/>
            <a:ext cx="3081528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02734"/>
                </a:solidFill>
              </a:defRPr>
            </a:pPr>
            <a:r>
              <a:rPr sz="1600" dirty="0"/>
              <a:t>• Social engineering &amp; phishing</a:t>
            </a:r>
            <a:br>
              <a:rPr sz="1600" dirty="0"/>
            </a:br>
            <a:r>
              <a:rPr sz="1600" dirty="0"/>
              <a:t>• Identity theft</a:t>
            </a:r>
            <a:br>
              <a:rPr sz="1600" dirty="0"/>
            </a:br>
            <a:r>
              <a:rPr sz="1600" dirty="0"/>
              <a:t>• Fraudulent accounts</a:t>
            </a:r>
            <a:br>
              <a:rPr sz="1600" dirty="0"/>
            </a:br>
            <a:r>
              <a:rPr sz="1600" dirty="0"/>
              <a:t>• Suspicious beneficiaries</a:t>
            </a:r>
            <a:br>
              <a:rPr sz="1600" dirty="0"/>
            </a:br>
            <a:r>
              <a:rPr sz="1600" dirty="0"/>
              <a:t>• Unauthorized transactions</a:t>
            </a:r>
            <a:br>
              <a:rPr sz="1600" dirty="0"/>
            </a:br>
            <a:r>
              <a:rPr sz="1600" dirty="0"/>
              <a:t>• Malicious apps / devices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788920"/>
            <a:ext cx="3474720" cy="224028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2788920"/>
            <a:ext cx="64008" cy="2240280"/>
          </a:xfrm>
          <a:prstGeom prst="rect">
            <a:avLst/>
          </a:prstGeom>
          <a:solidFill>
            <a:srgbClr val="2A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926079"/>
            <a:ext cx="271978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F37"/>
                </a:solidFill>
              </a:defRPr>
            </a:pPr>
            <a:r>
              <a:rPr sz="2000" dirty="0">
                <a:highlight>
                  <a:srgbClr val="808080"/>
                </a:highlight>
              </a:rPr>
              <a:t>Core business 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319272"/>
            <a:ext cx="312724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02734"/>
                </a:solidFill>
              </a:defRPr>
            </a:pPr>
            <a:r>
              <a:rPr sz="1400" dirty="0"/>
              <a:t>Balance security with convenience:</a:t>
            </a:r>
            <a:br>
              <a:rPr sz="1400" dirty="0"/>
            </a:br>
            <a:br>
              <a:rPr sz="1400" dirty="0"/>
            </a:br>
            <a:r>
              <a:rPr sz="1400" dirty="0"/>
              <a:t>Too strict → genuine users are blocked.</a:t>
            </a:r>
            <a:br>
              <a:rPr sz="1400" dirty="0"/>
            </a:br>
            <a:r>
              <a:rPr sz="1400" dirty="0"/>
              <a:t>Too loose → fraudulent activity may pass through.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342619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C"/>
                </a:solidFill>
              </a:defRPr>
            </a:pPr>
            <a:r>
              <a:rPr lang="en-US" sz="1200"/>
              <a:t>PhonePe — AI-Powered Fraud Detection Case Study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74259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CAABE"/>
                </a:solidFill>
              </a:defRPr>
            </a:pPr>
            <a:r>
              <a:rPr lang="en-US" sz="1400"/>
              <a:t>03 • DATA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7818743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rPr sz="3600"/>
              <a:t>Data Needed for AI/ML Fraud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9768C"/>
                </a:solidFill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01568" cy="196596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" cy="1965960"/>
          </a:xfrm>
          <a:prstGeom prst="rect">
            <a:avLst/>
          </a:prstGeom>
          <a:solidFill>
            <a:srgbClr val="2A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554480"/>
            <a:ext cx="1943545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400" b="1">
                <a:solidFill>
                  <a:srgbClr val="141F37"/>
                </a:solidFill>
              </a:defRPr>
            </a:pPr>
            <a:r>
              <a:rPr sz="2000"/>
              <a:t>Transaction data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7" y="1947672"/>
            <a:ext cx="3054096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defRPr sz="1050">
                <a:solidFill>
                  <a:srgbClr val="202734"/>
                </a:solidFill>
              </a:defRPr>
            </a:pPr>
            <a:r>
              <a:rPr lang="en-US" sz="1600"/>
              <a:t>Amount, date/time, sender, receiver, frequency, payment instrument, status and history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401568" cy="196596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64008" cy="1965960"/>
          </a:xfrm>
          <a:prstGeom prst="rect">
            <a:avLst/>
          </a:prstGeom>
          <a:solidFill>
            <a:srgbClr val="2C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554480"/>
            <a:ext cx="1986698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400" b="1">
                <a:solidFill>
                  <a:srgbClr val="141F37"/>
                </a:solidFill>
              </a:defRPr>
            </a:pPr>
            <a:r>
              <a:rPr sz="2000" err="1"/>
              <a:t>Behavioural</a:t>
            </a:r>
            <a:r>
              <a:rPr sz="2000"/>
              <a:t> data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44568" y="1947672"/>
            <a:ext cx="3054096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defRPr sz="1050">
                <a:solidFill>
                  <a:srgbClr val="202734"/>
                </a:solidFill>
              </a:defRPr>
            </a:pPr>
            <a:r>
              <a:rPr lang="en-US" sz="1600"/>
              <a:t>Typical amounts, transaction frequency, login </a:t>
            </a:r>
            <a:r>
              <a:rPr lang="en-US" sz="1600" err="1"/>
              <a:t>behaviour</a:t>
            </a:r>
            <a:r>
              <a:rPr lang="en-US" sz="1600"/>
              <a:t> and unusual activity changes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46719" y="1417320"/>
            <a:ext cx="3401568" cy="196596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19" y="1417320"/>
            <a:ext cx="64008" cy="1965960"/>
          </a:xfrm>
          <a:prstGeom prst="rect">
            <a:avLst/>
          </a:prstGeom>
          <a:solidFill>
            <a:srgbClr val="269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554480"/>
            <a:ext cx="142885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1F37"/>
                </a:solidFill>
              </a:defRPr>
            </a:pPr>
            <a:r>
              <a:rPr sz="2000"/>
              <a:t>Device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47672"/>
            <a:ext cx="3054096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defRPr sz="1050">
                <a:solidFill>
                  <a:srgbClr val="202734"/>
                </a:solidFill>
              </a:defRPr>
            </a:pPr>
            <a:r>
              <a:rPr lang="en-US" sz="1600"/>
              <a:t>Device type/OS, settings, fingerprint and new-device login signals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39"/>
            <a:ext cx="3401568" cy="196596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749039"/>
            <a:ext cx="64008" cy="1965960"/>
          </a:xfrm>
          <a:prstGeom prst="rect">
            <a:avLst/>
          </a:prstGeom>
          <a:solidFill>
            <a:srgbClr val="DB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3886200"/>
            <a:ext cx="1620252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400" b="1">
                <a:solidFill>
                  <a:srgbClr val="141F37"/>
                </a:solidFill>
              </a:defRPr>
            </a:pPr>
            <a:r>
              <a:rPr sz="2000"/>
              <a:t>Location data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1247" y="4279392"/>
            <a:ext cx="3054096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defRPr sz="1050">
                <a:solidFill>
                  <a:srgbClr val="202734"/>
                </a:solidFill>
              </a:defRPr>
            </a:pPr>
            <a:r>
              <a:rPr lang="en-US" sz="1600"/>
              <a:t>Transaction location, location changes, geo-fencing and location-risk signals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343400" y="3749039"/>
            <a:ext cx="3401568" cy="196596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3749039"/>
            <a:ext cx="64008" cy="1965960"/>
          </a:xfrm>
          <a:prstGeom prst="rect">
            <a:avLst/>
          </a:prstGeom>
          <a:solidFill>
            <a:srgbClr val="2A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44568" y="3886200"/>
            <a:ext cx="2621936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400" b="1">
                <a:solidFill>
                  <a:srgbClr val="141F37"/>
                </a:solidFill>
              </a:defRPr>
            </a:pPr>
            <a:r>
              <a:rPr lang="en-US" sz="2000"/>
              <a:t>Account &amp; relationship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44568" y="4279392"/>
            <a:ext cx="3054096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defRPr sz="1050">
                <a:solidFill>
                  <a:srgbClr val="202734"/>
                </a:solidFill>
              </a:defRPr>
            </a:pPr>
            <a:r>
              <a:rPr lang="en-US" sz="1600"/>
              <a:t>Phone numbers, user IDs, bank accounts, VPAs and merchant relationships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046719" y="3749039"/>
            <a:ext cx="3401568" cy="196596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46719" y="3749039"/>
            <a:ext cx="64008" cy="1965960"/>
          </a:xfrm>
          <a:prstGeom prst="rect">
            <a:avLst/>
          </a:prstGeom>
          <a:solidFill>
            <a:srgbClr val="C4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47888" y="3886200"/>
            <a:ext cx="234096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defRPr sz="1400" b="1">
                <a:solidFill>
                  <a:srgbClr val="141F37"/>
                </a:solidFill>
              </a:defRPr>
            </a:pPr>
            <a:r>
              <a:rPr lang="en-US" sz="2000"/>
              <a:t>Historical fraud data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47888" y="4279392"/>
            <a:ext cx="3054096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defRPr sz="1050">
                <a:solidFill>
                  <a:srgbClr val="202734"/>
                </a:solidFill>
              </a:defRPr>
            </a:pPr>
            <a:r>
              <a:rPr lang="en-US" sz="1600"/>
              <a:t>Reported fraud accounts, transactions, complaints and known fraud patterns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342619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C"/>
                </a:solidFill>
              </a:defRPr>
            </a:pPr>
            <a:r>
              <a:rPr lang="en-US" sz="1200"/>
              <a:t>PhonePe — AI-Powered Fraud Detection Case Study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81536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CAABE"/>
                </a:solidFill>
              </a:defRPr>
            </a:pPr>
            <a:r>
              <a:rPr lang="en-US" sz="1400"/>
              <a:t>04 • AI/ML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7492" y="593037"/>
            <a:ext cx="7595541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rPr lang="en-US" sz="3600"/>
              <a:t>Proposed AI-Powered Risk Assessment</a:t>
            </a:r>
            <a:endParaRPr lang="en-US" sz="3600"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9768C"/>
                </a:solidFill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657600" cy="425196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" cy="4251960"/>
          </a:xfrm>
          <a:prstGeom prst="rect">
            <a:avLst/>
          </a:prstGeom>
          <a:solidFill>
            <a:srgbClr val="2A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554480"/>
            <a:ext cx="315996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7"/>
                </a:solidFill>
              </a:defRPr>
            </a:pPr>
            <a:r>
              <a:rPr sz="2000"/>
              <a:t>A multi-technique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47672"/>
            <a:ext cx="3310128" cy="25545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00">
                <a:solidFill>
                  <a:srgbClr val="202734"/>
                </a:solidFill>
              </a:defRPr>
            </a:pPr>
            <a:r>
              <a:rPr sz="1600"/>
              <a:t>A practical fraud-detection system should combine multiple signals and AI/ML techniques rather than depend on one model.</a:t>
            </a:r>
            <a:br>
              <a:rPr sz="1600"/>
            </a:br>
            <a:br>
              <a:rPr sz="1600"/>
            </a:br>
            <a:r>
              <a:rPr sz="1600"/>
              <a:t>The case study uses a conceptual architecture based on PhonePe’s publicly described risk scoring, </a:t>
            </a:r>
            <a:r>
              <a:rPr sz="1600" err="1"/>
              <a:t>behavioural</a:t>
            </a:r>
            <a:r>
              <a:rPr sz="1600"/>
              <a:t> signals, device intelligence and relationship analysis.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0" y="1417320"/>
            <a:ext cx="6949440" cy="749808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0" y="1417320"/>
            <a:ext cx="64008" cy="749808"/>
          </a:xfrm>
          <a:prstGeom prst="rect">
            <a:avLst/>
          </a:prstGeom>
          <a:solidFill>
            <a:srgbClr val="2A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87545" y="1583235"/>
            <a:ext cx="1578637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 b="1">
                <a:solidFill>
                  <a:srgbClr val="141F37"/>
                </a:solidFill>
              </a:defRPr>
            </a:pPr>
            <a:r>
              <a:rPr lang="en-IN" sz="2000"/>
              <a:t>Classification</a:t>
            </a:r>
            <a:endParaRPr lang="en-IN" sz="2000"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87545" y="1904540"/>
            <a:ext cx="66019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02734"/>
                </a:solidFill>
              </a:defRPr>
            </a:pPr>
            <a:r>
              <a:rPr lang="en-US" sz="1600"/>
              <a:t>Categorises transactions by risk level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331720"/>
            <a:ext cx="6949440" cy="749808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0" y="2331720"/>
            <a:ext cx="64008" cy="749808"/>
          </a:xfrm>
          <a:prstGeom prst="rect">
            <a:avLst/>
          </a:prstGeom>
          <a:solidFill>
            <a:srgbClr val="2C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73168" y="2468879"/>
            <a:ext cx="220759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1F37"/>
                </a:solidFill>
              </a:defRPr>
            </a:pPr>
            <a:r>
              <a:rPr lang="en-US" sz="2000"/>
              <a:t>Anomaly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2862072"/>
            <a:ext cx="66019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02734"/>
                </a:solidFill>
              </a:defRPr>
            </a:pPr>
            <a:r>
              <a:rPr lang="en-US" sz="1600"/>
              <a:t>Flags activity that differs from normal behaviour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246120"/>
            <a:ext cx="6949440" cy="749808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0" y="3246120"/>
            <a:ext cx="64008" cy="749808"/>
          </a:xfrm>
          <a:prstGeom prst="rect">
            <a:avLst/>
          </a:prstGeom>
          <a:solidFill>
            <a:srgbClr val="269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73168" y="3383279"/>
            <a:ext cx="14353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1F37"/>
                </a:solidFill>
              </a:defRPr>
            </a:pPr>
            <a:r>
              <a:rPr lang="en-US" sz="2000"/>
              <a:t>Risk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776472"/>
            <a:ext cx="6601968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000">
                <a:solidFill>
                  <a:srgbClr val="202734"/>
                </a:solidFill>
              </a:defRPr>
            </a:pPr>
            <a:r>
              <a:rPr lang="en-US" sz="1600"/>
              <a:t>Combines signals into a transaction risk assessment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572000" y="4160520"/>
            <a:ext cx="6949440" cy="749808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0" y="4160520"/>
            <a:ext cx="64008" cy="749808"/>
          </a:xfrm>
          <a:prstGeom prst="rect">
            <a:avLst/>
          </a:prstGeom>
          <a:solidFill>
            <a:srgbClr val="DB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3168" y="4297680"/>
            <a:ext cx="1735540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 b="1">
                <a:solidFill>
                  <a:srgbClr val="141F37"/>
                </a:solidFill>
              </a:defRPr>
            </a:pPr>
            <a:r>
              <a:rPr lang="en-IN" sz="2000"/>
              <a:t>Graph analysis</a:t>
            </a:r>
            <a:endParaRPr lang="en-IN" sz="2000">
              <a:ea typeface="Calibri"/>
              <a:cs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73168" y="4690872"/>
            <a:ext cx="6601968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000">
                <a:solidFill>
                  <a:srgbClr val="202734"/>
                </a:solidFill>
              </a:defRPr>
            </a:pPr>
            <a:r>
              <a:rPr lang="en-US" sz="1600"/>
              <a:t>Maps relationships across users, accounts and devices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572000" y="5074920"/>
            <a:ext cx="6949440" cy="749808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0" y="5074920"/>
            <a:ext cx="64008" cy="749808"/>
          </a:xfrm>
          <a:prstGeom prst="rect">
            <a:avLst/>
          </a:prstGeom>
          <a:solidFill>
            <a:srgbClr val="C4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73168" y="5212080"/>
            <a:ext cx="23538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1F37"/>
                </a:solidFill>
              </a:defRPr>
            </a:pPr>
            <a:r>
              <a:rPr lang="en-IN" sz="2000"/>
              <a:t>Behavioural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44413" y="5605272"/>
            <a:ext cx="66019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02734"/>
                </a:solidFill>
              </a:defRPr>
            </a:pPr>
            <a:r>
              <a:rPr sz="1600"/>
              <a:t>Learns a user’s typical activity pattern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2355132" cy="21544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800">
                <a:solidFill>
                  <a:srgbClr val="69768C"/>
                </a:solidFill>
              </a:defRPr>
            </a:pPr>
            <a:r>
              <a:t>PhonePe — AI-Powered Fraud Detection Case Study</a:t>
            </a:r>
            <a:endParaRPr lang="en-US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CAABE"/>
                </a:solidFill>
              </a:defRPr>
            </a:pPr>
            <a:r>
              <a:t>05 • 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5344412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rPr lang="en-US" sz="3600" dirty="0"/>
              <a:t>How the AI Solution Works</a:t>
            </a:r>
            <a:endParaRPr lang="en-US" sz="3600" dirty="0"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9768C"/>
                </a:solidFill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173736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2A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9674" y="2263693"/>
            <a:ext cx="1166731" cy="830997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ctr">
              <a:defRPr sz="2000" b="1">
                <a:solidFill>
                  <a:srgbClr val="2A5BBE"/>
                </a:solidFill>
              </a:defRPr>
            </a:pPr>
            <a:r>
              <a:rPr lang="en-US" sz="1600"/>
              <a:t>1</a:t>
            </a:r>
            <a:endParaRPr lang="en-US" sz="1600">
              <a:ea typeface="Calibri"/>
              <a:cs typeface="Calibri"/>
            </a:endParaRPr>
          </a:p>
          <a:p>
            <a:pPr algn="ctr">
              <a:defRPr sz="1200" b="1">
                <a:solidFill>
                  <a:srgbClr val="141F37"/>
                </a:solidFill>
              </a:defRPr>
            </a:pPr>
            <a:r>
              <a:rPr lang="en-US" sz="1600"/>
              <a:t>Transaction</a:t>
            </a:r>
            <a:br>
              <a:rPr lang="en-US" sz="1600"/>
            </a:br>
            <a:r>
              <a:rPr lang="en-US" sz="1600"/>
              <a:t>Initiation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8" name="Chevron 7"/>
          <p:cNvSpPr/>
          <p:nvPr/>
        </p:nvSpPr>
        <p:spPr>
          <a:xfrm>
            <a:off x="2377440" y="2487168"/>
            <a:ext cx="384048" cy="411480"/>
          </a:xfrm>
          <a:prstGeom prst="chevron">
            <a:avLst/>
          </a:prstGeom>
          <a:solidFill>
            <a:srgbClr val="697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862072" y="1965960"/>
            <a:ext cx="173736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2C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0407" y="2263693"/>
            <a:ext cx="880690" cy="830997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ctr">
              <a:defRPr sz="2000" b="1">
                <a:solidFill>
                  <a:srgbClr val="2CAABE"/>
                </a:solidFill>
              </a:defRPr>
            </a:pPr>
            <a:r>
              <a:rPr lang="en-US" sz="1600"/>
              <a:t>2</a:t>
            </a:r>
            <a:endParaRPr lang="en-US" sz="1600">
              <a:ea typeface="Calibri"/>
              <a:cs typeface="Calibri"/>
            </a:endParaRPr>
          </a:p>
          <a:p>
            <a:pPr algn="ctr">
              <a:defRPr sz="1200" b="1">
                <a:solidFill>
                  <a:srgbClr val="141F37"/>
                </a:solidFill>
              </a:defRPr>
            </a:pPr>
            <a:r>
              <a:rPr lang="en-US" sz="1600"/>
              <a:t>Data</a:t>
            </a:r>
            <a:br>
              <a:rPr lang="en-US" sz="1600"/>
            </a:br>
            <a:r>
              <a:rPr lang="en-US" sz="1600"/>
              <a:t>Analysis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645152" y="2487168"/>
            <a:ext cx="384048" cy="411480"/>
          </a:xfrm>
          <a:prstGeom prst="chevron">
            <a:avLst/>
          </a:prstGeom>
          <a:solidFill>
            <a:srgbClr val="697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129784" y="1965960"/>
            <a:ext cx="173736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269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7902" y="2305295"/>
            <a:ext cx="1187826" cy="830997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ctr">
              <a:defRPr sz="2000" b="1">
                <a:solidFill>
                  <a:srgbClr val="269666"/>
                </a:solidFill>
              </a:defRPr>
            </a:pPr>
            <a:r>
              <a:rPr lang="en-US" sz="1600"/>
              <a:t>3</a:t>
            </a:r>
            <a:endParaRPr lang="en-US" sz="1600">
              <a:ea typeface="Calibri"/>
              <a:cs typeface="Calibri"/>
            </a:endParaRPr>
          </a:p>
          <a:p>
            <a:pPr algn="ctr">
              <a:defRPr sz="2000" b="1">
                <a:solidFill>
                  <a:srgbClr val="269666"/>
                </a:solidFill>
              </a:defRPr>
            </a:pPr>
            <a:r>
              <a:rPr lang="en-US" sz="1600">
                <a:solidFill>
                  <a:srgbClr val="141F37"/>
                </a:solidFill>
              </a:rPr>
              <a:t>Risk</a:t>
            </a:r>
            <a:br>
              <a:rPr lang="en-US" sz="1600"/>
            </a:br>
            <a:r>
              <a:rPr lang="en-US" sz="1600">
                <a:solidFill>
                  <a:srgbClr val="141F37"/>
                </a:solidFill>
              </a:rPr>
              <a:t>Assessment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4" name="Chevron 13"/>
          <p:cNvSpPr/>
          <p:nvPr/>
        </p:nvSpPr>
        <p:spPr>
          <a:xfrm>
            <a:off x="6912864" y="2487168"/>
            <a:ext cx="384048" cy="411480"/>
          </a:xfrm>
          <a:prstGeom prst="chevron">
            <a:avLst/>
          </a:prstGeom>
          <a:solidFill>
            <a:srgbClr val="697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97496" y="1965960"/>
            <a:ext cx="173736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B9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3167" y="2386804"/>
            <a:ext cx="906018" cy="584775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ctr">
              <a:defRPr sz="2000" b="1">
                <a:solidFill>
                  <a:srgbClr val="DB962A"/>
                </a:solidFill>
              </a:defRPr>
            </a:pPr>
            <a:r>
              <a:rPr lang="en-US" sz="1600"/>
              <a:t>4</a:t>
            </a:r>
            <a:endParaRPr lang="en-US" sz="1600">
              <a:ea typeface="Calibri"/>
              <a:cs typeface="Calibri"/>
            </a:endParaRPr>
          </a:p>
          <a:p>
            <a:pPr algn="ctr">
              <a:defRPr sz="1200" b="1">
                <a:solidFill>
                  <a:srgbClr val="141F37"/>
                </a:solidFill>
              </a:defRPr>
            </a:pPr>
            <a:r>
              <a:rPr lang="en-US" sz="1600"/>
              <a:t>Decision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7" name="Chevron 16"/>
          <p:cNvSpPr/>
          <p:nvPr/>
        </p:nvSpPr>
        <p:spPr>
          <a:xfrm>
            <a:off x="9180576" y="2487168"/>
            <a:ext cx="384048" cy="411480"/>
          </a:xfrm>
          <a:prstGeom prst="chevron">
            <a:avLst/>
          </a:prstGeom>
          <a:solidFill>
            <a:srgbClr val="697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665208" y="1965960"/>
            <a:ext cx="173736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C4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61763" y="2140583"/>
            <a:ext cx="1944249" cy="107721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>
              <a:defRPr sz="2000" b="1">
                <a:solidFill>
                  <a:srgbClr val="C44B4B"/>
                </a:solidFill>
              </a:defRPr>
            </a:pPr>
            <a:r>
              <a:rPr lang="en-US" sz="1600" dirty="0"/>
              <a:t>5</a:t>
            </a:r>
            <a:endParaRPr lang="en-US" sz="1600" dirty="0">
              <a:ea typeface="Calibri"/>
              <a:cs typeface="Calibri"/>
            </a:endParaRPr>
          </a:p>
          <a:p>
            <a:pPr algn="ctr">
              <a:defRPr sz="1200" b="1">
                <a:solidFill>
                  <a:srgbClr val="141F37"/>
                </a:solidFill>
              </a:defRPr>
            </a:pPr>
            <a:r>
              <a:rPr lang="en-US" sz="1600" dirty="0"/>
              <a:t>Feedback &amp;</a:t>
            </a:r>
            <a:br>
              <a:rPr lang="en-US" sz="1600" dirty="0"/>
            </a:br>
            <a:r>
              <a:rPr lang="en-US" sz="1600" dirty="0"/>
              <a:t>Model </a:t>
            </a:r>
          </a:p>
          <a:p>
            <a:pPr algn="ctr">
              <a:defRPr sz="1200" b="1">
                <a:solidFill>
                  <a:srgbClr val="141F37"/>
                </a:solidFill>
              </a:defRPr>
            </a:pPr>
            <a:r>
              <a:rPr lang="en-US" sz="1600" dirty="0"/>
              <a:t>Improvement</a:t>
            </a:r>
            <a:endParaRPr lang="en-US" sz="1600" dirty="0">
              <a:ea typeface="Calibri"/>
              <a:cs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22960" y="4069080"/>
            <a:ext cx="324612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" y="4069080"/>
            <a:ext cx="64008" cy="1143000"/>
          </a:xfrm>
          <a:prstGeom prst="rect">
            <a:avLst/>
          </a:prstGeom>
          <a:solidFill>
            <a:srgbClr val="2A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4128" y="4206240"/>
            <a:ext cx="920445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 b="1">
                <a:solidFill>
                  <a:srgbClr val="141F37"/>
                </a:solidFill>
              </a:defRPr>
            </a:pPr>
            <a:r>
              <a:rPr lang="en-US" sz="2000"/>
              <a:t>Signals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24128" y="4495048"/>
            <a:ext cx="289864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000">
                <a:solidFill>
                  <a:srgbClr val="202734"/>
                </a:solidFill>
              </a:defRPr>
            </a:pPr>
            <a:r>
              <a:rPr lang="en-US" sz="1600"/>
              <a:t>Amount • </a:t>
            </a:r>
            <a:r>
              <a:rPr lang="en-US" sz="1600" err="1"/>
              <a:t>behaviour</a:t>
            </a:r>
            <a:r>
              <a:rPr lang="en-US" sz="1600"/>
              <a:t> • device • location • recipient • history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480560" y="4069080"/>
            <a:ext cx="324612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80560" y="4069080"/>
            <a:ext cx="64008" cy="1143000"/>
          </a:xfrm>
          <a:prstGeom prst="rect">
            <a:avLst/>
          </a:prstGeom>
          <a:solidFill>
            <a:srgbClr val="269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81728" y="4206240"/>
            <a:ext cx="1873333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 b="1">
                <a:solidFill>
                  <a:srgbClr val="141F37"/>
                </a:solidFill>
              </a:defRPr>
            </a:pPr>
            <a:r>
              <a:rPr lang="en-US" sz="2000"/>
              <a:t>Possible actions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81728" y="4599432"/>
            <a:ext cx="289864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000">
                <a:solidFill>
                  <a:srgbClr val="202734"/>
                </a:solidFill>
              </a:defRPr>
            </a:pPr>
            <a:r>
              <a:rPr lang="en-US" sz="1600"/>
              <a:t>Approve • warn • verify • block • investigate</a:t>
            </a:r>
            <a:endParaRPr lang="en-US" sz="1600" dirty="0">
              <a:ea typeface="Calibri"/>
              <a:cs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138160" y="4069080"/>
            <a:ext cx="324612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38160" y="4069080"/>
            <a:ext cx="64008" cy="1143000"/>
          </a:xfrm>
          <a:prstGeom prst="rect">
            <a:avLst/>
          </a:prstGeom>
          <a:solidFill>
            <a:srgbClr val="DB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39328" y="4206240"/>
            <a:ext cx="163538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1F37"/>
                </a:solidFill>
              </a:defRPr>
            </a:pPr>
            <a:r>
              <a:rPr lang="en-US" sz="2000" dirty="0"/>
              <a:t>Learning 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4599432"/>
            <a:ext cx="31666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02734"/>
                </a:solidFill>
              </a:defRPr>
            </a:pPr>
            <a:r>
              <a:rPr sz="1600" dirty="0"/>
              <a:t>Fraud reports + outcomes → monitoring → model improvement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C"/>
                </a:solidFill>
              </a:defRPr>
            </a:pPr>
            <a:r>
              <a:t>Conceptual process flow; PhonePe’s proprietary model formula is not publicly disclosed.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119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CAABE"/>
                </a:solidFill>
              </a:defRPr>
            </a:pPr>
            <a:r>
              <a:t>06 •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6982232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rPr lang="en-US" sz="3200">
                <a:latin typeface="Calibri"/>
                <a:ea typeface="Calibri"/>
                <a:cs typeface="Calibri"/>
              </a:rPr>
              <a:t>Expected</a:t>
            </a:r>
            <a:r>
              <a:rPr lang="en-US">
                <a:latin typeface="Calibri"/>
                <a:ea typeface="Calibri"/>
                <a:cs typeface="Calibri"/>
              </a:rPr>
              <a:t> /</a:t>
            </a:r>
            <a:r>
              <a:rPr lang="en-US" sz="3600">
                <a:latin typeface="Calibri"/>
                <a:ea typeface="Calibri"/>
                <a:cs typeface="Calibri"/>
              </a:rPr>
              <a:t> Existing Business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9768C"/>
                </a:solidFill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01568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" cy="1783080"/>
          </a:xfrm>
          <a:prstGeom prst="rect">
            <a:avLst/>
          </a:prstGeom>
          <a:solidFill>
            <a:srgbClr val="C4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7104" y="1542385"/>
            <a:ext cx="1424301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400" b="1">
                <a:solidFill>
                  <a:srgbClr val="141F37"/>
                </a:solidFill>
              </a:defRPr>
            </a:pPr>
            <a:r>
              <a:rPr lang="en-US" sz="1600">
                <a:latin typeface="Calibri"/>
                <a:ea typeface="Calibri"/>
                <a:cs typeface="Calibri"/>
              </a:rPr>
              <a:t>Reduced fraud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5438" y="1935577"/>
            <a:ext cx="3029905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050">
                <a:solidFill>
                  <a:srgbClr val="202734"/>
                </a:solidFill>
              </a:defRPr>
            </a:pPr>
            <a:r>
              <a:rPr sz="1600"/>
              <a:t>Early identification can reduce fraudulent transactions and associated financial loss.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67590" y="1417320"/>
            <a:ext cx="3401568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64008" cy="1783080"/>
          </a:xfrm>
          <a:prstGeom prst="rect">
            <a:avLst/>
          </a:prstGeom>
          <a:solidFill>
            <a:srgbClr val="2A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554480"/>
            <a:ext cx="1631985" cy="35394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400" b="1">
                <a:solidFill>
                  <a:srgbClr val="141F37"/>
                </a:solidFill>
              </a:defRPr>
            </a:pPr>
            <a:r>
              <a:rPr sz="1700">
                <a:latin typeface="Aptos"/>
              </a:rPr>
              <a:t>Faster</a:t>
            </a:r>
            <a:r>
              <a:rPr sz="1600">
                <a:latin typeface="Aptos"/>
              </a:rPr>
              <a:t> </a:t>
            </a:r>
            <a:r>
              <a:rPr sz="1600">
                <a:latin typeface="Calibri"/>
                <a:ea typeface="Calibri"/>
                <a:cs typeface="Calibri"/>
              </a:rPr>
              <a:t>decisions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44568" y="1947672"/>
            <a:ext cx="3054096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050">
                <a:solidFill>
                  <a:srgbClr val="202734"/>
                </a:solidFill>
              </a:defRPr>
            </a:pPr>
            <a:r>
              <a:rPr lang="en-US" sz="1600"/>
              <a:t>AI/ML can </a:t>
            </a:r>
            <a:r>
              <a:rPr lang="en-US" sz="1600" err="1"/>
              <a:t>analyse</a:t>
            </a:r>
            <a:r>
              <a:rPr lang="en-US" sz="1600"/>
              <a:t> large volumes of signals quickly for real-time decisions.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58814" y="1543353"/>
            <a:ext cx="3379555" cy="1636727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1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>
                <a:ea typeface="Calibri"/>
                <a:cs typeface="Calibri"/>
              </a:rPr>
              <a:t>CC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1417320"/>
            <a:ext cx="64008" cy="1783080"/>
          </a:xfrm>
          <a:prstGeom prst="rect">
            <a:avLst/>
          </a:prstGeom>
          <a:solidFill>
            <a:srgbClr val="269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554480"/>
            <a:ext cx="32004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defRPr sz="1400" b="1">
                <a:solidFill>
                  <a:srgbClr val="141F37"/>
                </a:solidFill>
              </a:defRPr>
            </a:pPr>
            <a:endParaRPr lang="en-US" sz="1600"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15808" y="2069592"/>
            <a:ext cx="3196336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050">
                <a:solidFill>
                  <a:srgbClr val="202734"/>
                </a:solidFill>
              </a:defRPr>
            </a:pPr>
            <a:r>
              <a:rPr lang="en-US" sz="1600">
                <a:ea typeface="Calibri"/>
                <a:cs typeface="Calibri"/>
              </a:rPr>
              <a:t>Risk warnings and interventions can help users </a:t>
            </a:r>
            <a:r>
              <a:rPr lang="en-US" sz="1600" err="1">
                <a:ea typeface="Calibri"/>
                <a:cs typeface="Calibri"/>
              </a:rPr>
              <a:t>recognise</a:t>
            </a:r>
            <a:r>
              <a:rPr lang="en-US" sz="1600">
                <a:ea typeface="Calibri"/>
                <a:cs typeface="Calibri"/>
              </a:rPr>
              <a:t> suspicious payments.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1040" y="3566160"/>
            <a:ext cx="3401568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566160"/>
            <a:ext cx="64008" cy="1783080"/>
          </a:xfrm>
          <a:prstGeom prst="rect">
            <a:avLst/>
          </a:prstGeom>
          <a:solidFill>
            <a:srgbClr val="2C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3703320"/>
            <a:ext cx="1297215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400" b="1">
                <a:solidFill>
                  <a:srgbClr val="141F37"/>
                </a:solidFill>
              </a:defRPr>
            </a:pPr>
            <a:r>
              <a:rPr lang="en-IN">
                <a:latin typeface="Calibri"/>
                <a:ea typeface="Calibri"/>
                <a:cs typeface="Calibri"/>
              </a:rPr>
              <a:t>Improved trust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096512"/>
            <a:ext cx="3054096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050">
                <a:solidFill>
                  <a:srgbClr val="202734"/>
                </a:solidFill>
              </a:defRPr>
            </a:pPr>
            <a:r>
              <a:rPr sz="1600"/>
              <a:t>A safer payment environment supports confidence in digital payments.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363720" y="3566160"/>
            <a:ext cx="3401568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3566160"/>
            <a:ext cx="64008" cy="1783080"/>
          </a:xfrm>
          <a:prstGeom prst="rect">
            <a:avLst/>
          </a:prstGeom>
          <a:solidFill>
            <a:srgbClr val="DB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44568" y="3703320"/>
            <a:ext cx="1702582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400" b="1">
                <a:solidFill>
                  <a:srgbClr val="141F37"/>
                </a:solidFill>
              </a:defRPr>
            </a:pPr>
            <a:r>
              <a:rPr sz="1600">
                <a:latin typeface="Calibri"/>
                <a:ea typeface="Calibri"/>
                <a:cs typeface="Calibri"/>
              </a:rPr>
              <a:t>Less manual work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44568" y="4096512"/>
            <a:ext cx="3054096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050">
                <a:solidFill>
                  <a:srgbClr val="202734"/>
                </a:solidFill>
              </a:defRPr>
            </a:pPr>
            <a:r>
              <a:rPr sz="1600"/>
              <a:t>Automation lets human teams focus on complex or high-risk cases.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046719" y="3566160"/>
            <a:ext cx="3401568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46719" y="3566160"/>
            <a:ext cx="64008" cy="1783080"/>
          </a:xfrm>
          <a:prstGeom prst="rect">
            <a:avLst/>
          </a:prstGeom>
          <a:solidFill>
            <a:srgbClr val="2A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47888" y="3703320"/>
            <a:ext cx="2239909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400" b="1">
                <a:solidFill>
                  <a:srgbClr val="141F37"/>
                </a:solidFill>
              </a:defRPr>
            </a:pPr>
            <a:r>
              <a:rPr sz="1600">
                <a:latin typeface="Calibri"/>
                <a:ea typeface="Calibri"/>
                <a:cs typeface="Calibri"/>
              </a:rPr>
              <a:t>Better fraud intelligence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47888" y="4096512"/>
            <a:ext cx="3054096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050">
                <a:solidFill>
                  <a:srgbClr val="202734"/>
                </a:solidFill>
              </a:defRPr>
            </a:pPr>
            <a:r>
              <a:t>D</a:t>
            </a:r>
            <a:r>
              <a:rPr lang="en-US" sz="1600"/>
              <a:t>ata analysis helps identify changing and emerging fraud patterns.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40080" y="5806440"/>
            <a:ext cx="10808208" cy="475488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5806440"/>
            <a:ext cx="64008" cy="475488"/>
          </a:xfrm>
          <a:prstGeom prst="rect">
            <a:avLst/>
          </a:prstGeom>
          <a:solidFill>
            <a:srgbClr val="14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7" y="5943600"/>
            <a:ext cx="104607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1F37"/>
                </a:solidFill>
              </a:defRPr>
            </a:pPr>
            <a:r>
              <a:t>Scale indicator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" y="6336792"/>
            <a:ext cx="10460736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02734"/>
                </a:solidFill>
              </a:defRPr>
            </a:pPr>
            <a:r>
              <a:t>PhonePe’s FY2023–24 Annual Report states that its Guardian platform performed 3,000+ crore evaluations daily.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C"/>
                </a:solidFill>
              </a:defRPr>
            </a:pPr>
            <a:r>
              <a:t>PhonePe — AI-Powered Fraud Detection Case Study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A0A66F-87FB-7667-755B-7EBD6950DE3B}"/>
              </a:ext>
            </a:extLst>
          </p:cNvPr>
          <p:cNvSpPr txBox="1"/>
          <p:nvPr/>
        </p:nvSpPr>
        <p:spPr>
          <a:xfrm>
            <a:off x="8496104" y="1736578"/>
            <a:ext cx="236389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ea typeface="Calibri"/>
                <a:cs typeface="Calibri"/>
              </a:rPr>
              <a:t>Customer Protection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CAABE"/>
                </a:solidFill>
              </a:defRPr>
            </a:pPr>
            <a:r>
              <a:t>07 •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5835572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rPr sz="3600"/>
              <a:t>Risks, Ethics &amp; Responsible AI</a:t>
            </a:r>
            <a:endParaRPr lang="en-US" sz="3600"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9768C"/>
                </a:solidFill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01568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" cy="1783080"/>
          </a:xfrm>
          <a:prstGeom prst="rect">
            <a:avLst/>
          </a:prstGeom>
          <a:solidFill>
            <a:srgbClr val="2A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6390" y="1639147"/>
            <a:ext cx="797206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400" b="1">
                <a:solidFill>
                  <a:srgbClr val="141F37"/>
                </a:solidFill>
              </a:defRPr>
            </a:pPr>
            <a:r>
              <a:rPr lang="en-US" sz="1600"/>
              <a:t>Privacy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7" y="1947672"/>
            <a:ext cx="3054096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050">
                <a:solidFill>
                  <a:srgbClr val="202734"/>
                </a:solidFill>
              </a:defRPr>
            </a:pPr>
            <a:r>
              <a:rPr lang="en-US" sz="1600"/>
              <a:t>Use only appropriate data with strong security, access controls and permission.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401568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64008" cy="1783080"/>
          </a:xfrm>
          <a:prstGeom prst="rect">
            <a:avLst/>
          </a:prstGeom>
          <a:solidFill>
            <a:srgbClr val="DB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554480"/>
            <a:ext cx="1408206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400" b="1">
                <a:solidFill>
                  <a:srgbClr val="141F37"/>
                </a:solidFill>
              </a:defRPr>
            </a:pPr>
            <a:r>
              <a:rPr sz="1600"/>
              <a:t>False positives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44568" y="1947672"/>
            <a:ext cx="3054096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050">
                <a:solidFill>
                  <a:srgbClr val="202734"/>
                </a:solidFill>
              </a:defRPr>
            </a:pPr>
            <a:r>
              <a:rPr lang="en-US" sz="1600"/>
              <a:t>A genuine transaction may be flagged, creating friction or inconvenience.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46719" y="1417320"/>
            <a:ext cx="3401568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19" y="1417320"/>
            <a:ext cx="64008" cy="1783080"/>
          </a:xfrm>
          <a:prstGeom prst="rect">
            <a:avLst/>
          </a:prstGeom>
          <a:solidFill>
            <a:srgbClr val="C4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554480"/>
            <a:ext cx="1462067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400" b="1">
                <a:solidFill>
                  <a:srgbClr val="141F37"/>
                </a:solidFill>
              </a:defRPr>
            </a:pPr>
            <a:r>
              <a:rPr sz="1600"/>
              <a:t>False negatives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47888" y="1947672"/>
            <a:ext cx="3054096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050">
                <a:solidFill>
                  <a:srgbClr val="202734"/>
                </a:solidFill>
              </a:defRPr>
            </a:pPr>
            <a:r>
              <a:rPr lang="en-US" sz="1600"/>
              <a:t>Fraud may be missed, creating financial loss and customer dissatisfaction.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3566160"/>
            <a:ext cx="3401568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566160"/>
            <a:ext cx="64008" cy="1783080"/>
          </a:xfrm>
          <a:prstGeom prst="rect">
            <a:avLst/>
          </a:prstGeom>
          <a:solidFill>
            <a:srgbClr val="2C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3703320"/>
            <a:ext cx="1433277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400" b="1">
                <a:solidFill>
                  <a:srgbClr val="141F37"/>
                </a:solidFill>
              </a:defRPr>
            </a:pPr>
            <a:r>
              <a:rPr sz="1600"/>
              <a:t>Bias &amp; fairness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1247" y="4096512"/>
            <a:ext cx="3054096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050">
                <a:solidFill>
                  <a:srgbClr val="202734"/>
                </a:solidFill>
              </a:defRPr>
            </a:pPr>
            <a:r>
              <a:rPr lang="en-US" sz="1600"/>
              <a:t>Model performance can differ across groups; evaluation is required.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343400" y="3566160"/>
            <a:ext cx="3401568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3566160"/>
            <a:ext cx="64008" cy="1783080"/>
          </a:xfrm>
          <a:prstGeom prst="rect">
            <a:avLst/>
          </a:prstGeom>
          <a:solidFill>
            <a:srgbClr val="269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44568" y="3703320"/>
            <a:ext cx="1318310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400" b="1">
                <a:solidFill>
                  <a:srgbClr val="141F37"/>
                </a:solidFill>
              </a:defRPr>
            </a:pPr>
            <a:r>
              <a:rPr sz="1600"/>
              <a:t>Transparency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44568" y="4096512"/>
            <a:ext cx="3054096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050">
                <a:solidFill>
                  <a:srgbClr val="202734"/>
                </a:solidFill>
              </a:defRPr>
            </a:pPr>
            <a:r>
              <a:rPr lang="en-US" sz="1600"/>
              <a:t>Users need understandable explanations when a payment is flagged or stopped.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046719" y="3566160"/>
            <a:ext cx="3401568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46719" y="3566160"/>
            <a:ext cx="64008" cy="1783080"/>
          </a:xfrm>
          <a:prstGeom prst="rect">
            <a:avLst/>
          </a:prstGeom>
          <a:solidFill>
            <a:srgbClr val="14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47888" y="3703320"/>
            <a:ext cx="1638077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400" b="1">
                <a:solidFill>
                  <a:srgbClr val="141F37"/>
                </a:solidFill>
              </a:defRPr>
            </a:pPr>
            <a:r>
              <a:rPr sz="1600"/>
              <a:t>Human oversight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47888" y="4096512"/>
            <a:ext cx="3054096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050">
                <a:solidFill>
                  <a:srgbClr val="202734"/>
                </a:solidFill>
              </a:defRPr>
            </a:pPr>
            <a:r>
              <a:rPr lang="en-US" sz="1600"/>
              <a:t>Complex/high-risk cases should remain reviewable by people.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40080" y="5806440"/>
            <a:ext cx="10808208" cy="475488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5806440"/>
            <a:ext cx="64008" cy="475488"/>
          </a:xfrm>
          <a:prstGeom prst="rect">
            <a:avLst/>
          </a:prstGeom>
          <a:solidFill>
            <a:srgbClr val="14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7" y="5943600"/>
            <a:ext cx="104607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1F37"/>
                </a:solidFill>
              </a:defRPr>
            </a:pPr>
            <a:r>
              <a:t>Evolving threat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" y="6336792"/>
            <a:ext cx="10460736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02734"/>
                </a:solidFill>
              </a:defRPr>
            </a:pPr>
            <a:r>
              <a:t>Fraudsters adapt through phishing, deepfakes and misuse of generative AI, so controls and models must be continuously evaluated.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C"/>
                </a:solidFill>
              </a:defRPr>
            </a:pPr>
            <a:r>
              <a:t>PhonePe — AI-Powered Fraud Detection Case Study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394" y="-38485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83415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CAABE"/>
                </a:solidFill>
              </a:defRPr>
            </a:pPr>
            <a:r>
              <a:rPr>
                <a:latin typeface="Times New Roman"/>
                <a:cs typeface="Times New Roman"/>
              </a:rPr>
              <a:t>08 • AI TOOLS &amp;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3907480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rPr lang="en-IN">
                <a:latin typeface="Calibri"/>
                <a:ea typeface="Calibri"/>
                <a:cs typeface="Calibri"/>
              </a:rPr>
              <a:t>Tools and Prompts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9974" y="365760"/>
            <a:ext cx="31290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9768C"/>
                </a:solidFill>
              </a:defRPr>
            </a:pPr>
            <a:r>
              <a:rPr>
                <a:latin typeface="Times New Roman"/>
                <a:cs typeface="Times New Roman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196596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" cy="1965960"/>
          </a:xfrm>
          <a:prstGeom prst="rect">
            <a:avLst/>
          </a:prstGeom>
          <a:solidFill>
            <a:srgbClr val="2A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7" y="1554480"/>
            <a:ext cx="103906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7"/>
                </a:solidFill>
              </a:defRPr>
            </a:pPr>
            <a:r>
              <a:rPr>
                <a:latin typeface="Times New Roman"/>
                <a:cs typeface="Times New Roman"/>
              </a:rPr>
              <a:t>ChatGPT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24582"/>
            <a:ext cx="3066135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100">
                <a:solidFill>
                  <a:srgbClr val="202734"/>
                </a:solidFill>
              </a:defRPr>
            </a:pPr>
            <a:r>
              <a:rPr lang="en-US" sz="1600">
                <a:latin typeface="Times New Roman"/>
                <a:cs typeface="Times New Roman"/>
              </a:rPr>
              <a:t>• Research brainstorming</a:t>
            </a:r>
            <a:br>
              <a:rPr lang="en-US" sz="1600">
                <a:latin typeface="Times New Roman"/>
                <a:cs typeface="Times New Roman"/>
              </a:rPr>
            </a:br>
            <a:r>
              <a:rPr lang="en-US" sz="1600">
                <a:latin typeface="Times New Roman"/>
                <a:cs typeface="Times New Roman"/>
              </a:rPr>
              <a:t>• Simplifying AI/ML concepts</a:t>
            </a:r>
            <a:br>
              <a:rPr lang="en-US" sz="1600">
                <a:latin typeface="Times New Roman"/>
                <a:cs typeface="Times New Roman"/>
              </a:rPr>
            </a:br>
            <a:r>
              <a:rPr lang="en-US" sz="1600">
                <a:latin typeface="Times New Roman"/>
                <a:cs typeface="Times New Roman"/>
              </a:rPr>
              <a:t>• Structuring the case study</a:t>
            </a:r>
            <a:br>
              <a:rPr lang="en-US" sz="1600">
                <a:latin typeface="Times New Roman"/>
                <a:cs typeface="Times New Roman"/>
              </a:rPr>
            </a:br>
            <a:r>
              <a:rPr lang="en-US" sz="1600">
                <a:latin typeface="Times New Roman"/>
                <a:cs typeface="Times New Roman"/>
              </a:rPr>
              <a:t>• Improving slide wording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29000" cy="196596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70832" y="1417320"/>
            <a:ext cx="64008" cy="1965960"/>
          </a:xfrm>
          <a:prstGeom prst="rect">
            <a:avLst/>
          </a:prstGeom>
          <a:solidFill>
            <a:srgbClr val="2C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0" y="1554480"/>
            <a:ext cx="233044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7"/>
                </a:solidFill>
              </a:defRPr>
            </a:pPr>
            <a:r>
              <a:rPr>
                <a:latin typeface="Times New Roman"/>
                <a:cs typeface="Times New Roman"/>
              </a:rPr>
              <a:t>Web / Company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47672"/>
            <a:ext cx="3081528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100">
                <a:solidFill>
                  <a:srgbClr val="202734"/>
                </a:solidFill>
              </a:defRPr>
            </a:pPr>
            <a:r>
              <a:rPr lang="en-US" sz="1600">
                <a:latin typeface="Times New Roman"/>
                <a:cs typeface="Times New Roman"/>
              </a:rPr>
              <a:t>• PhonePe Security &amp; Trust &amp; Safety material</a:t>
            </a:r>
            <a:br>
              <a:rPr lang="en-US" sz="1600">
                <a:latin typeface="Times New Roman"/>
                <a:cs typeface="Times New Roman"/>
              </a:rPr>
            </a:br>
            <a:r>
              <a:rPr lang="en-US" sz="1600">
                <a:latin typeface="Times New Roman"/>
                <a:cs typeface="Times New Roman"/>
              </a:rPr>
              <a:t>• FY2023–24 Annual Report</a:t>
            </a:r>
            <a:br>
              <a:rPr lang="en-US" sz="1600">
                <a:latin typeface="Times New Roman"/>
                <a:cs typeface="Times New Roman"/>
              </a:rPr>
            </a:br>
            <a:r>
              <a:rPr lang="en-US" sz="1600">
                <a:latin typeface="Times New Roman"/>
                <a:cs typeface="Times New Roman"/>
              </a:rPr>
              <a:t>• Public information used to ground claims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01583" y="1417320"/>
            <a:ext cx="3429000" cy="196596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01583" y="1417320"/>
            <a:ext cx="64008" cy="1965960"/>
          </a:xfrm>
          <a:prstGeom prst="rect">
            <a:avLst/>
          </a:prstGeom>
          <a:solidFill>
            <a:srgbClr val="269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02752" y="1554480"/>
            <a:ext cx="29417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1F37"/>
                </a:solidFill>
              </a:defRPr>
            </a:pPr>
            <a:r>
              <a:rPr>
                <a:latin typeface="Times New Roman"/>
                <a:cs typeface="Times New Roman"/>
              </a:rPr>
              <a:t>PowerPoint / AI-assisted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947672"/>
            <a:ext cx="3081528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100">
                <a:solidFill>
                  <a:srgbClr val="202734"/>
                </a:solidFill>
              </a:defRPr>
            </a:pPr>
            <a:r>
              <a:rPr lang="en-US" sz="1600">
                <a:latin typeface="Times New Roman"/>
                <a:cs typeface="Times New Roman"/>
              </a:rPr>
              <a:t>• Slide organization</a:t>
            </a:r>
            <a:br>
              <a:rPr lang="en-US" sz="1600">
                <a:latin typeface="Times New Roman"/>
                <a:cs typeface="Times New Roman"/>
              </a:rPr>
            </a:br>
            <a:r>
              <a:rPr lang="en-US" sz="1600">
                <a:latin typeface="Times New Roman"/>
                <a:cs typeface="Times New Roman"/>
              </a:rPr>
              <a:t>• Process-flow visualization</a:t>
            </a:r>
            <a:br>
              <a:rPr lang="en-US" sz="1600">
                <a:latin typeface="Times New Roman"/>
                <a:cs typeface="Times New Roman"/>
              </a:rPr>
            </a:br>
            <a:r>
              <a:rPr lang="en-US" sz="1600">
                <a:latin typeface="Times New Roman"/>
                <a:cs typeface="Times New Roman"/>
              </a:rPr>
              <a:t>• Converting research into presentation-ready points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10881360" cy="196596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40080" y="3703320"/>
            <a:ext cx="64008" cy="1965960"/>
          </a:xfrm>
          <a:prstGeom prst="rect">
            <a:avLst/>
          </a:prstGeom>
          <a:solidFill>
            <a:srgbClr val="DB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/>
              <a:cs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1247" y="3840480"/>
            <a:ext cx="220419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F37"/>
                </a:solidFill>
              </a:defRPr>
            </a:pPr>
            <a:r>
              <a:rPr>
                <a:latin typeface="Times New Roman"/>
                <a:cs typeface="Times New Roman"/>
              </a:rPr>
              <a:t>Important prompts 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233672"/>
            <a:ext cx="10533888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050">
                <a:solidFill>
                  <a:srgbClr val="202734"/>
                </a:solidFill>
              </a:defRPr>
            </a:pPr>
            <a:r>
              <a:rPr sz="1600">
                <a:latin typeface="Times New Roman"/>
                <a:cs typeface="Times New Roman"/>
              </a:rPr>
              <a:t>1. “Explain how AI/ML can detect fraud in digital payments using PhonePe as a case study.”</a:t>
            </a:r>
            <a:br>
              <a:rPr sz="1600">
                <a:latin typeface="Times New Roman"/>
                <a:cs typeface="Times New Roman"/>
              </a:rPr>
            </a:br>
            <a:r>
              <a:rPr sz="1600">
                <a:latin typeface="Times New Roman"/>
                <a:cs typeface="Times New Roman"/>
              </a:rPr>
              <a:t>2. “Suggest the data required for real-time digital payment fraud detection.”</a:t>
            </a:r>
            <a:br>
              <a:rPr sz="1600">
                <a:latin typeface="Times New Roman"/>
                <a:cs typeface="Times New Roman"/>
              </a:rPr>
            </a:br>
            <a:r>
              <a:rPr sz="1600">
                <a:latin typeface="Times New Roman"/>
                <a:cs typeface="Times New Roman"/>
              </a:rPr>
              <a:t>3. “Create a simple flowchart: transaction → data analysis → risk assessment → decision → feedback.”</a:t>
            </a:r>
            <a:br>
              <a:rPr sz="1600">
                <a:latin typeface="Times New Roman"/>
                <a:cs typeface="Times New Roman"/>
              </a:rPr>
            </a:br>
            <a:r>
              <a:rPr sz="1600">
                <a:latin typeface="Times New Roman"/>
                <a:cs typeface="Times New Roman"/>
              </a:rPr>
              <a:t>4. “List responsible-AI risks: privacy, bias, false positives, transparency and human oversight.”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237436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C"/>
                </a:solidFill>
              </a:defRPr>
            </a:pPr>
            <a:r>
              <a:rPr>
                <a:latin typeface="Times New Roman"/>
                <a:cs typeface="Times New Roman"/>
              </a:rPr>
              <a:t>PhonePe — AI-Powered Fraud Detection Case Study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459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CAABE"/>
                </a:solidFill>
              </a:defRPr>
            </a:pPr>
            <a:r>
              <a:rPr sz="1400">
                <a:latin typeface="Times New Roman"/>
                <a:cs typeface="Times New Roman"/>
              </a:rPr>
              <a:t>09 • PROMPT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5785110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rPr>
                <a:latin typeface="Calibri"/>
                <a:ea typeface="Calibri"/>
                <a:cs typeface="Calibri"/>
              </a:rPr>
              <a:t>Prompt Improvement &amp; AI Evaluation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8677" y="365760"/>
            <a:ext cx="36420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9768C"/>
                </a:solidFill>
              </a:defRPr>
            </a:pPr>
            <a:r>
              <a:rPr sz="1400">
                <a:latin typeface="Times New Roman"/>
                <a:cs typeface="Times New Roman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160020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" cy="1600200"/>
          </a:xfrm>
          <a:prstGeom prst="rect">
            <a:avLst/>
          </a:prstGeom>
          <a:solidFill>
            <a:srgbClr val="C4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7" y="1554480"/>
            <a:ext cx="2138471" cy="3231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141F37"/>
                </a:solidFill>
              </a:defRPr>
            </a:pPr>
            <a:r>
              <a:rPr>
                <a:latin typeface="Times New Roman"/>
                <a:cs typeface="Times New Roman"/>
              </a:rPr>
              <a:t>Original / Basic Prompt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7" y="1947672"/>
            <a:ext cx="49103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734"/>
                </a:solidFill>
              </a:defRPr>
            </a:pPr>
            <a:r>
              <a:rPr sz="1400">
                <a:latin typeface="Times New Roman"/>
                <a:cs typeface="Times New Roman"/>
              </a:rPr>
              <a:t>“Tell me about AI fraud detection in PhonePe.”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417320"/>
            <a:ext cx="5440680" cy="160020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80760" y="1417320"/>
            <a:ext cx="64008" cy="1600200"/>
          </a:xfrm>
          <a:prstGeom prst="rect">
            <a:avLst/>
          </a:prstGeom>
          <a:solidFill>
            <a:srgbClr val="269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81928" y="1554480"/>
            <a:ext cx="1668534" cy="3231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141F37"/>
                </a:solidFill>
              </a:defRPr>
            </a:pPr>
            <a:r>
              <a:rPr>
                <a:latin typeface="Times New Roman"/>
                <a:cs typeface="Times New Roman"/>
              </a:rPr>
              <a:t>Improved Prompt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81928" y="1947672"/>
            <a:ext cx="50932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02734"/>
                </a:solidFill>
              </a:defRPr>
            </a:pPr>
            <a:r>
              <a:rPr sz="1400">
                <a:latin typeface="Times New Roman"/>
                <a:cs typeface="Times New Roman"/>
              </a:rPr>
              <a:t>“For a BBA FinTech &amp; AI case study on PhonePe, explain real-time fraud detection in 5 parts: data required, ML techniques, process flow, business impact and responsible-AI risks. Keep it concise and presentation-ready.”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83280"/>
            <a:ext cx="342900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3383280"/>
            <a:ext cx="64008" cy="1828800"/>
          </a:xfrm>
          <a:prstGeom prst="rect">
            <a:avLst/>
          </a:prstGeom>
          <a:solidFill>
            <a:srgbClr val="2A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1247" y="3520440"/>
            <a:ext cx="172508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F37"/>
                </a:solidFill>
              </a:defRPr>
            </a:pPr>
            <a:r>
              <a:rPr sz="1400">
                <a:latin typeface="Times New Roman"/>
                <a:cs typeface="Times New Roman"/>
              </a:rPr>
              <a:t>Difference in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913632"/>
            <a:ext cx="30815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02734"/>
                </a:solidFill>
              </a:defRPr>
            </a:pPr>
            <a:r>
              <a:rPr sz="1400">
                <a:latin typeface="Times New Roman"/>
                <a:cs typeface="Times New Roman"/>
              </a:rPr>
              <a:t>• More structured</a:t>
            </a:r>
            <a:br>
              <a:rPr sz="1400">
                <a:latin typeface="Times New Roman"/>
                <a:cs typeface="Times New Roman"/>
              </a:rPr>
            </a:br>
            <a:r>
              <a:rPr sz="1400">
                <a:latin typeface="Times New Roman"/>
                <a:cs typeface="Times New Roman"/>
              </a:rPr>
              <a:t>• More relevant</a:t>
            </a:r>
            <a:br>
              <a:rPr sz="1400">
                <a:latin typeface="Times New Roman"/>
                <a:cs typeface="Times New Roman"/>
              </a:rPr>
            </a:br>
            <a:r>
              <a:rPr sz="1400">
                <a:latin typeface="Times New Roman"/>
                <a:cs typeface="Times New Roman"/>
              </a:rPr>
              <a:t>• Less generic</a:t>
            </a:r>
            <a:br>
              <a:rPr sz="1400">
                <a:latin typeface="Times New Roman"/>
                <a:cs typeface="Times New Roman"/>
              </a:rPr>
            </a:br>
            <a:r>
              <a:rPr sz="1400">
                <a:latin typeface="Times New Roman"/>
                <a:cs typeface="Times New Roman"/>
              </a:rPr>
              <a:t>• Easier to convert into slides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3383280"/>
            <a:ext cx="342900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70832" y="3383280"/>
            <a:ext cx="64008" cy="1828800"/>
          </a:xfrm>
          <a:prstGeom prst="rect">
            <a:avLst/>
          </a:prstGeom>
          <a:solidFill>
            <a:srgbClr val="2C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0" y="3520440"/>
            <a:ext cx="13516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F37"/>
                </a:solidFill>
              </a:defRPr>
            </a:pPr>
            <a:r>
              <a:rPr sz="1400">
                <a:latin typeface="Times New Roman"/>
                <a:cs typeface="Times New Roman"/>
              </a:rPr>
              <a:t>What I learned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913632"/>
            <a:ext cx="30815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02734"/>
                </a:solidFill>
              </a:defRPr>
            </a:pPr>
            <a:r>
              <a:rPr sz="1400">
                <a:latin typeface="Times New Roman"/>
                <a:cs typeface="Times New Roman"/>
              </a:rPr>
              <a:t>• Context improves relevance</a:t>
            </a:r>
            <a:br>
              <a:rPr sz="1400">
                <a:latin typeface="Times New Roman"/>
                <a:cs typeface="Times New Roman"/>
              </a:rPr>
            </a:br>
            <a:r>
              <a:rPr sz="1400">
                <a:latin typeface="Times New Roman"/>
                <a:cs typeface="Times New Roman"/>
              </a:rPr>
              <a:t>• Output format reduces rewriting</a:t>
            </a:r>
            <a:br>
              <a:rPr sz="1400">
                <a:latin typeface="Times New Roman"/>
                <a:cs typeface="Times New Roman"/>
              </a:rPr>
            </a:br>
            <a:r>
              <a:rPr sz="1400">
                <a:latin typeface="Times New Roman"/>
                <a:cs typeface="Times New Roman"/>
              </a:rPr>
              <a:t>• Constraints control length and level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3383280"/>
            <a:ext cx="342900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101583" y="3383280"/>
            <a:ext cx="64008" cy="1828800"/>
          </a:xfrm>
          <a:prstGeom prst="rect">
            <a:avLst/>
          </a:prstGeom>
          <a:solidFill>
            <a:srgbClr val="DB9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/>
              <a:cs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02752" y="3520440"/>
            <a:ext cx="122661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F37"/>
                </a:solidFill>
              </a:defRPr>
            </a:pPr>
            <a:r>
              <a:rPr sz="1400">
                <a:latin typeface="Times New Roman"/>
                <a:cs typeface="Times New Roman"/>
              </a:rPr>
              <a:t>AI 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913632"/>
            <a:ext cx="30815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02734"/>
                </a:solidFill>
              </a:defRPr>
            </a:pPr>
            <a:r>
              <a:rPr sz="1400">
                <a:latin typeface="Times New Roman"/>
                <a:cs typeface="Times New Roman"/>
              </a:rPr>
              <a:t>Checked for:</a:t>
            </a:r>
            <a:br>
              <a:rPr sz="1400">
                <a:latin typeface="Times New Roman"/>
                <a:cs typeface="Times New Roman"/>
              </a:rPr>
            </a:br>
            <a:r>
              <a:rPr sz="1400">
                <a:latin typeface="Times New Roman"/>
                <a:cs typeface="Times New Roman"/>
              </a:rPr>
              <a:t>• Relevance &amp; clarity</a:t>
            </a:r>
            <a:br>
              <a:rPr sz="1400">
                <a:latin typeface="Times New Roman"/>
                <a:cs typeface="Times New Roman"/>
              </a:rPr>
            </a:br>
            <a:r>
              <a:rPr sz="1400">
                <a:latin typeface="Times New Roman"/>
                <a:cs typeface="Times New Roman"/>
              </a:rPr>
              <a:t>• Accuracy against sources</a:t>
            </a:r>
            <a:br>
              <a:rPr sz="1400">
                <a:latin typeface="Times New Roman"/>
                <a:cs typeface="Times New Roman"/>
              </a:rPr>
            </a:br>
            <a:r>
              <a:rPr sz="1400">
                <a:latin typeface="Times New Roman"/>
                <a:cs typeface="Times New Roman"/>
              </a:rPr>
              <a:t>• No invented proprietary details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401558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C"/>
                </a:solidFill>
              </a:defRPr>
            </a:pPr>
            <a:r>
              <a:rPr sz="1400">
                <a:latin typeface="Times New Roman"/>
                <a:cs typeface="Times New Roman"/>
              </a:rPr>
              <a:t>PhonePe — AI-Powered Fraud Detection Case Study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CAABE"/>
                </a:solidFill>
              </a:defRPr>
            </a:pPr>
            <a:r>
              <a:t>10 •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7"/>
                </a:solidFill>
              </a:defRPr>
            </a:pPr>
            <a:r>
              <a:t>Recommendations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9768C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6492240" cy="443484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" cy="4434840"/>
          </a:xfrm>
          <a:prstGeom prst="rect">
            <a:avLst/>
          </a:prstGeom>
          <a:solidFill>
            <a:srgbClr val="2A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3487" y="1422400"/>
            <a:ext cx="61447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1F37"/>
                </a:solidFill>
              </a:defRPr>
            </a:pPr>
            <a:r>
              <a:t>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767" y="1764792"/>
            <a:ext cx="6144768" cy="41549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100">
                <a:solidFill>
                  <a:srgbClr val="202734"/>
                </a:solidFill>
              </a:defRPr>
            </a:pPr>
            <a:r>
              <a:rPr lang="en-US" sz="1400" b="1" dirty="0">
                <a:ea typeface="+mn-lt"/>
                <a:cs typeface="+mn-lt"/>
              </a:rPr>
              <a:t>1</a:t>
            </a:r>
            <a:r>
              <a:rPr lang="en-US" sz="1600" b="1" dirty="0">
                <a:ea typeface="+mn-lt"/>
                <a:cs typeface="+mn-lt"/>
              </a:rPr>
              <a:t>. Real-Time Monitoring</a:t>
            </a:r>
            <a:br>
              <a:rPr lang="en-US" sz="1400" b="1" dirty="0">
                <a:ea typeface="+mn-lt"/>
                <a:cs typeface="+mn-lt"/>
              </a:rPr>
            </a:br>
            <a:r>
              <a:rPr lang="en-US" sz="1400" dirty="0">
                <a:ea typeface="+mn-lt"/>
                <a:cs typeface="+mn-lt"/>
              </a:rPr>
              <a:t> Strengthen monitoring for decisions needed within seconds.</a:t>
            </a:r>
            <a:endParaRPr lang="en-US" dirty="0"/>
          </a:p>
          <a:p>
            <a:pPr>
              <a:defRPr sz="1100">
                <a:solidFill>
                  <a:srgbClr val="202734"/>
                </a:solidFill>
              </a:defRPr>
            </a:pPr>
            <a:endParaRPr lang="en-US" sz="1400" dirty="0">
              <a:ea typeface="+mn-lt"/>
              <a:cs typeface="+mn-lt"/>
            </a:endParaRPr>
          </a:p>
          <a:p>
            <a:pPr>
              <a:defRPr sz="1100">
                <a:solidFill>
                  <a:srgbClr val="202734"/>
                </a:solidFill>
              </a:defRPr>
            </a:pPr>
            <a:r>
              <a:rPr lang="en-US" sz="1400" b="1" dirty="0">
                <a:ea typeface="+mn-lt"/>
                <a:cs typeface="+mn-lt"/>
              </a:rPr>
              <a:t>2. </a:t>
            </a:r>
            <a:r>
              <a:rPr lang="en-US" sz="1600" b="1" dirty="0">
                <a:ea typeface="+mn-lt"/>
                <a:cs typeface="+mn-lt"/>
              </a:rPr>
              <a:t>Multi-Method Detectio</a:t>
            </a:r>
            <a:r>
              <a:rPr lang="en-US" sz="1400" b="1" dirty="0">
                <a:ea typeface="+mn-lt"/>
                <a:cs typeface="+mn-lt"/>
              </a:rPr>
              <a:t>n</a:t>
            </a:r>
            <a:br>
              <a:rPr lang="en-US" sz="1400" b="1" dirty="0">
                <a:ea typeface="+mn-lt"/>
                <a:cs typeface="+mn-lt"/>
              </a:rPr>
            </a:br>
            <a:r>
              <a:rPr lang="en-US" sz="1400" b="1" dirty="0">
                <a:ea typeface="+mn-lt"/>
                <a:cs typeface="+mn-lt"/>
              </a:rPr>
              <a:t> </a:t>
            </a:r>
            <a:r>
              <a:rPr lang="en-US" sz="1400" dirty="0">
                <a:ea typeface="+mn-lt"/>
                <a:cs typeface="+mn-lt"/>
              </a:rPr>
              <a:t>Combine classification, anomaly, </a:t>
            </a:r>
            <a:r>
              <a:rPr lang="en-US" sz="1400" dirty="0" err="1">
                <a:ea typeface="+mn-lt"/>
                <a:cs typeface="+mn-lt"/>
              </a:rPr>
              <a:t>behavioural</a:t>
            </a:r>
            <a:r>
              <a:rPr lang="en-US" sz="1400" dirty="0">
                <a:ea typeface="+mn-lt"/>
                <a:cs typeface="+mn-lt"/>
              </a:rPr>
              <a:t>, graph analysis and risk scoring.</a:t>
            </a:r>
          </a:p>
          <a:p>
            <a:pPr>
              <a:defRPr sz="1100">
                <a:solidFill>
                  <a:srgbClr val="202734"/>
                </a:solidFill>
              </a:defRPr>
            </a:pPr>
            <a:endParaRPr lang="en-US" sz="1400" dirty="0">
              <a:ea typeface="+mn-lt"/>
              <a:cs typeface="+mn-lt"/>
            </a:endParaRPr>
          </a:p>
          <a:p>
            <a:pPr>
              <a:defRPr sz="1100">
                <a:solidFill>
                  <a:srgbClr val="202734"/>
                </a:solidFill>
              </a:defRPr>
            </a:pPr>
            <a:r>
              <a:rPr lang="en-US" sz="1400" b="1" dirty="0">
                <a:ea typeface="+mn-lt"/>
                <a:cs typeface="+mn-lt"/>
              </a:rPr>
              <a:t>3. </a:t>
            </a:r>
            <a:r>
              <a:rPr lang="en-US" sz="1600" b="1" dirty="0">
                <a:ea typeface="+mn-lt"/>
                <a:cs typeface="+mn-lt"/>
              </a:rPr>
              <a:t>Reduce False Positives</a:t>
            </a:r>
            <a:br>
              <a:rPr lang="en-US" sz="1400" b="1" dirty="0">
                <a:ea typeface="+mn-lt"/>
                <a:cs typeface="+mn-lt"/>
              </a:rPr>
            </a:br>
            <a:r>
              <a:rPr lang="en-US" sz="1400" b="1" dirty="0">
                <a:ea typeface="+mn-lt"/>
                <a:cs typeface="+mn-lt"/>
              </a:rPr>
              <a:t> </a:t>
            </a:r>
            <a:r>
              <a:rPr lang="en-US" sz="1400" dirty="0">
                <a:ea typeface="+mn-lt"/>
                <a:cs typeface="+mn-lt"/>
              </a:rPr>
              <a:t>Avoid unnecessarily blocking unusual but legitimate </a:t>
            </a:r>
            <a:r>
              <a:rPr lang="en-US" sz="1400" dirty="0" err="1">
                <a:ea typeface="+mn-lt"/>
                <a:cs typeface="+mn-lt"/>
              </a:rPr>
              <a:t>behaviour</a:t>
            </a:r>
            <a:r>
              <a:rPr lang="en-US" sz="1400" b="1" dirty="0">
                <a:ea typeface="+mn-lt"/>
                <a:cs typeface="+mn-lt"/>
              </a:rPr>
              <a:t>.</a:t>
            </a:r>
          </a:p>
          <a:p>
            <a:pPr>
              <a:defRPr sz="1100">
                <a:solidFill>
                  <a:srgbClr val="202734"/>
                </a:solidFill>
              </a:defRPr>
            </a:pPr>
            <a:endParaRPr lang="en-US" sz="1400" b="1" dirty="0">
              <a:ea typeface="+mn-lt"/>
              <a:cs typeface="+mn-lt"/>
            </a:endParaRPr>
          </a:p>
          <a:p>
            <a:pPr>
              <a:defRPr sz="1100">
                <a:solidFill>
                  <a:srgbClr val="202734"/>
                </a:solidFill>
              </a:defRPr>
            </a:pPr>
            <a:r>
              <a:rPr lang="en-US" sz="1400" b="1" dirty="0">
                <a:ea typeface="+mn-lt"/>
                <a:cs typeface="+mn-lt"/>
              </a:rPr>
              <a:t>4. </a:t>
            </a:r>
            <a:r>
              <a:rPr lang="en-US" sz="1600" b="1" dirty="0">
                <a:ea typeface="+mn-lt"/>
                <a:cs typeface="+mn-lt"/>
              </a:rPr>
              <a:t>Improve Explainability</a:t>
            </a:r>
            <a:br>
              <a:rPr lang="en-US" sz="1400" b="1" dirty="0">
                <a:ea typeface="+mn-lt"/>
                <a:cs typeface="+mn-lt"/>
              </a:rPr>
            </a:br>
            <a:r>
              <a:rPr lang="en-US" sz="1400" dirty="0">
                <a:ea typeface="+mn-lt"/>
                <a:cs typeface="+mn-lt"/>
              </a:rPr>
              <a:t> Provide simple reasons when payments are flagged or stopped.</a:t>
            </a:r>
          </a:p>
          <a:p>
            <a:pPr>
              <a:defRPr sz="1100">
                <a:solidFill>
                  <a:srgbClr val="202734"/>
                </a:solidFill>
              </a:defRPr>
            </a:pPr>
            <a:endParaRPr lang="en-US" sz="1400" dirty="0">
              <a:ea typeface="+mn-lt"/>
              <a:cs typeface="+mn-lt"/>
            </a:endParaRPr>
          </a:p>
          <a:p>
            <a:pPr>
              <a:defRPr sz="1100">
                <a:solidFill>
                  <a:srgbClr val="202734"/>
                </a:solidFill>
              </a:defRPr>
            </a:pPr>
            <a:r>
              <a:rPr lang="en-US" sz="1400" b="1" dirty="0">
                <a:ea typeface="+mn-lt"/>
                <a:cs typeface="+mn-lt"/>
              </a:rPr>
              <a:t>5. </a:t>
            </a:r>
            <a:r>
              <a:rPr lang="en-US" sz="1600" b="1" dirty="0">
                <a:ea typeface="+mn-lt"/>
                <a:cs typeface="+mn-lt"/>
              </a:rPr>
              <a:t>Human Oversight</a:t>
            </a:r>
            <a:br>
              <a:rPr lang="en-US" sz="1400" b="1" dirty="0">
                <a:ea typeface="+mn-lt"/>
                <a:cs typeface="+mn-lt"/>
              </a:rPr>
            </a:br>
            <a:r>
              <a:rPr lang="en-US" sz="1400" dirty="0">
                <a:ea typeface="+mn-lt"/>
                <a:cs typeface="+mn-lt"/>
              </a:rPr>
              <a:t> Keep human review for complex/high-risk cases and continuously update</a:t>
            </a:r>
            <a:r>
              <a:rPr lang="en-US" sz="1400" b="1" dirty="0">
                <a:ea typeface="+mn-lt"/>
                <a:cs typeface="+mn-lt"/>
              </a:rPr>
              <a:t> </a:t>
            </a:r>
            <a:r>
              <a:rPr lang="en-US" sz="1400" dirty="0">
                <a:ea typeface="+mn-lt"/>
                <a:cs typeface="+mn-lt"/>
              </a:rPr>
              <a:t>models</a:t>
            </a:r>
          </a:p>
          <a:p>
            <a:pPr>
              <a:defRPr sz="1100">
                <a:solidFill>
                  <a:srgbClr val="202734"/>
                </a:solidFill>
              </a:defRPr>
            </a:pPr>
            <a:endParaRPr lang="en-US" sz="1400" dirty="0">
              <a:ea typeface="Calibri"/>
              <a:cs typeface="Calibri"/>
            </a:endParaRPr>
          </a:p>
          <a:p>
            <a:pPr>
              <a:defRPr sz="1100">
                <a:solidFill>
                  <a:srgbClr val="202734"/>
                </a:solidFill>
              </a:defRPr>
            </a:pPr>
            <a:r>
              <a:rPr lang="en-US" sz="1400" b="1" dirty="0">
                <a:ea typeface="+mn-lt"/>
                <a:cs typeface="+mn-lt"/>
              </a:rPr>
              <a:t>6.</a:t>
            </a:r>
            <a:r>
              <a:rPr lang="en-US" sz="1600" b="1" dirty="0">
                <a:ea typeface="+mn-lt"/>
                <a:cs typeface="+mn-lt"/>
              </a:rPr>
              <a:t> Privacy &amp; Awareness</a:t>
            </a:r>
            <a:br>
              <a:rPr lang="en-US" sz="1400" b="1" dirty="0">
                <a:ea typeface="+mn-lt"/>
                <a:cs typeface="+mn-lt"/>
              </a:rPr>
            </a:br>
            <a:r>
              <a:rPr lang="en-US" sz="1400" b="1" dirty="0">
                <a:ea typeface="+mn-lt"/>
                <a:cs typeface="+mn-lt"/>
              </a:rPr>
              <a:t> </a:t>
            </a:r>
            <a:r>
              <a:rPr lang="en-US" sz="1400" dirty="0">
                <a:ea typeface="+mn-lt"/>
                <a:cs typeface="+mn-lt"/>
              </a:rPr>
              <a:t>Strengthen privacy controls and user awareness against social-engineering scams.</a:t>
            </a:r>
          </a:p>
          <a:p>
            <a:pPr>
              <a:defRPr sz="1100">
                <a:solidFill>
                  <a:srgbClr val="202734"/>
                </a:solidFill>
              </a:defRPr>
            </a:pPr>
            <a:endParaRPr lang="en-US" sz="1400" dirty="0">
              <a:ea typeface="Calibri"/>
              <a:cs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60920" y="1417320"/>
            <a:ext cx="4160520" cy="2011680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60920" y="1417320"/>
            <a:ext cx="64008" cy="2011680"/>
          </a:xfrm>
          <a:prstGeom prst="rect">
            <a:avLst/>
          </a:prstGeom>
          <a:solidFill>
            <a:srgbClr val="269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62088" y="1554480"/>
            <a:ext cx="1531766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600" b="1">
                <a:solidFill>
                  <a:srgbClr val="141F37"/>
                </a:solidFill>
              </a:defRPr>
            </a:pPr>
            <a:r>
              <a:t>Case conclusion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62088" y="1907032"/>
            <a:ext cx="3792728" cy="143116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100">
                <a:solidFill>
                  <a:srgbClr val="202734"/>
                </a:solidFill>
              </a:defRPr>
            </a:pPr>
            <a:r>
              <a:rPr lang="en-US" sz="1400" b="1">
                <a:ea typeface="+mn-lt"/>
                <a:cs typeface="+mn-lt"/>
              </a:rPr>
              <a:t>AI/ML-Based Fraud Detectio</a:t>
            </a:r>
            <a:r>
              <a:rPr lang="en-US" sz="1200" b="1">
                <a:ea typeface="+mn-lt"/>
                <a:cs typeface="+mn-lt"/>
              </a:rPr>
              <a:t>n</a:t>
            </a:r>
            <a:br>
              <a:rPr lang="en-US" sz="1200" b="1">
                <a:ea typeface="+mn-lt"/>
                <a:cs typeface="+mn-lt"/>
              </a:rPr>
            </a:br>
            <a:r>
              <a:rPr lang="en-US" sz="1200">
                <a:ea typeface="+mn-lt"/>
                <a:cs typeface="+mn-lt"/>
              </a:rPr>
              <a:t> AI/ML can help PhonePe move from rule-only detection toward a multi-signal, real-time risk assessment approach</a:t>
            </a:r>
            <a:r>
              <a:rPr lang="en-US" sz="1200" b="1">
                <a:ea typeface="+mn-lt"/>
                <a:cs typeface="+mn-lt"/>
              </a:rPr>
              <a:t>.</a:t>
            </a:r>
          </a:p>
          <a:p>
            <a:pPr>
              <a:defRPr sz="1100">
                <a:solidFill>
                  <a:srgbClr val="202734"/>
                </a:solidFill>
              </a:defRPr>
            </a:pPr>
            <a:r>
              <a:rPr lang="en-US" sz="1400" b="1">
                <a:ea typeface="+mn-lt"/>
                <a:cs typeface="+mn-lt"/>
              </a:rPr>
              <a:t>Balanced Protection</a:t>
            </a:r>
            <a:br>
              <a:rPr lang="en-US" sz="1200" b="1">
                <a:ea typeface="+mn-lt"/>
                <a:cs typeface="+mn-lt"/>
              </a:rPr>
            </a:br>
            <a:r>
              <a:rPr lang="en-US" sz="1200">
                <a:ea typeface="+mn-lt"/>
                <a:cs typeface="+mn-lt"/>
              </a:rPr>
              <a:t> The objective is not simply to block fraud, but to protect users while preserving legitimate payment experiences.</a:t>
            </a:r>
          </a:p>
          <a:p>
            <a:pPr>
              <a:defRPr sz="1100">
                <a:solidFill>
                  <a:srgbClr val="202734"/>
                </a:solidFill>
              </a:defRPr>
            </a:pPr>
            <a:endParaRPr lang="en-US">
              <a:ea typeface="Calibri"/>
              <a:cs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91811" y="3620942"/>
            <a:ext cx="4129629" cy="2622514"/>
          </a:xfrm>
          <a:prstGeom prst="roundRect">
            <a:avLst/>
          </a:prstGeom>
          <a:solidFill>
            <a:srgbClr val="F4F7FB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81514" y="3641537"/>
            <a:ext cx="53711" cy="2601920"/>
          </a:xfrm>
          <a:prstGeom prst="rect">
            <a:avLst/>
          </a:prstGeom>
          <a:solidFill>
            <a:srgbClr val="2C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7440" y="3678606"/>
            <a:ext cx="3003451" cy="58477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700" b="1">
                <a:solidFill>
                  <a:srgbClr val="141F37"/>
                </a:solidFill>
              </a:defRPr>
            </a:pPr>
            <a:r>
              <a:rPr lang="en-US" sz="1600"/>
              <a:t>Key takeaway : </a:t>
            </a:r>
            <a:r>
              <a:rPr lang="en-US" sz="1300">
                <a:solidFill>
                  <a:srgbClr val="202734"/>
                </a:solidFill>
              </a:rPr>
              <a:t>Fraud Detection Cycle</a:t>
            </a:r>
            <a:endParaRPr lang="en-US" sz="1300">
              <a:solidFill>
                <a:srgbClr val="000000"/>
              </a:solidFill>
            </a:endParaRPr>
          </a:p>
          <a:p>
            <a:pPr>
              <a:defRPr sz="1700" b="1">
                <a:solidFill>
                  <a:srgbClr val="141F37"/>
                </a:solidFill>
              </a:defRPr>
            </a:pPr>
            <a:endParaRPr lang="en-US" sz="1600">
              <a:ea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62088" y="3969512"/>
            <a:ext cx="3792728" cy="21082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202734"/>
                </a:solidFill>
              </a:defRPr>
            </a:pPr>
            <a:r>
              <a:rPr lang="en-US" sz="1200" b="1">
                <a:ea typeface="+mn-lt"/>
                <a:cs typeface="+mn-lt"/>
              </a:rPr>
              <a:t>1. </a:t>
            </a:r>
            <a:r>
              <a:rPr lang="en-US" sz="1400" b="1">
                <a:ea typeface="+mn-lt"/>
                <a:cs typeface="+mn-lt"/>
              </a:rPr>
              <a:t>Detect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200">
                <a:ea typeface="+mn-lt"/>
                <a:cs typeface="+mn-lt"/>
              </a:rPr>
              <a:t>→ Identify suspicious or unusual transactions.</a:t>
            </a:r>
            <a:br>
              <a:rPr lang="en-US" sz="1200">
                <a:ea typeface="+mn-lt"/>
                <a:cs typeface="+mn-lt"/>
              </a:rPr>
            </a:b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b="1">
                <a:ea typeface="+mn-lt"/>
                <a:cs typeface="+mn-lt"/>
              </a:rPr>
              <a:t>2. </a:t>
            </a:r>
            <a:r>
              <a:rPr lang="en-US" sz="1400" b="1">
                <a:ea typeface="+mn-lt"/>
                <a:cs typeface="+mn-lt"/>
              </a:rPr>
              <a:t>Assess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200">
                <a:ea typeface="+mn-lt"/>
                <a:cs typeface="+mn-lt"/>
              </a:rPr>
              <a:t>→ Evaluate the level of fraud risk using multiple signals.</a:t>
            </a:r>
            <a:br>
              <a:rPr lang="en-US" sz="1200">
                <a:ea typeface="+mn-lt"/>
                <a:cs typeface="+mn-lt"/>
              </a:rPr>
            </a:br>
            <a:r>
              <a:rPr lang="en-US" sz="1200">
                <a:ea typeface="+mn-lt"/>
                <a:cs typeface="+mn-lt"/>
              </a:rPr>
              <a:t> </a:t>
            </a:r>
            <a:r>
              <a:rPr lang="en-US" sz="1400" b="1">
                <a:ea typeface="+mn-lt"/>
                <a:cs typeface="+mn-lt"/>
              </a:rPr>
              <a:t>3. Act</a:t>
            </a:r>
            <a:r>
              <a:rPr lang="en-US" sz="1200">
                <a:ea typeface="+mn-lt"/>
                <a:cs typeface="+mn-lt"/>
              </a:rPr>
              <a:t> → Block, flag, or allow the transaction based on the risk.</a:t>
            </a:r>
            <a:br>
              <a:rPr lang="en-US" sz="1200">
                <a:ea typeface="+mn-lt"/>
                <a:cs typeface="+mn-lt"/>
              </a:rPr>
            </a:b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b="1">
                <a:ea typeface="+mn-lt"/>
                <a:cs typeface="+mn-lt"/>
              </a:rPr>
              <a:t>4.</a:t>
            </a:r>
            <a:r>
              <a:rPr lang="en-US" sz="1400" b="1">
                <a:ea typeface="+mn-lt"/>
                <a:cs typeface="+mn-lt"/>
              </a:rPr>
              <a:t> Learn</a:t>
            </a:r>
            <a:r>
              <a:rPr lang="en-US" sz="1200">
                <a:ea typeface="+mn-lt"/>
                <a:cs typeface="+mn-lt"/>
              </a:rPr>
              <a:t> → Use new fraud patterns and outcomes to improve detection.</a:t>
            </a:r>
            <a:br>
              <a:rPr lang="en-US" sz="1200">
                <a:ea typeface="+mn-lt"/>
                <a:cs typeface="+mn-lt"/>
              </a:rPr>
            </a:b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b="1">
                <a:ea typeface="+mn-lt"/>
                <a:cs typeface="+mn-lt"/>
              </a:rPr>
              <a:t>5. </a:t>
            </a:r>
            <a:r>
              <a:rPr lang="en-US" sz="1400" b="1">
                <a:ea typeface="+mn-lt"/>
                <a:cs typeface="+mn-lt"/>
              </a:rPr>
              <a:t>Improve</a:t>
            </a:r>
            <a:r>
              <a:rPr lang="en-US" sz="1200">
                <a:ea typeface="+mn-lt"/>
                <a:cs typeface="+mn-lt"/>
              </a:rPr>
              <a:t> → Continuously update models and rules for better accuracy.</a:t>
            </a:r>
            <a:endParaRPr lang="en-US" sz="1200">
              <a:ea typeface="Calibri"/>
              <a:cs typeface="Calibri"/>
            </a:endParaRPr>
          </a:p>
          <a:p>
            <a:pPr>
              <a:defRPr sz="1300">
                <a:solidFill>
                  <a:srgbClr val="202734"/>
                </a:solidFill>
              </a:defRPr>
            </a:pPr>
            <a:endParaRPr lang="en-US"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93A8C1-6097-9A59-9FAE-9DADD73EC798}"/>
              </a:ext>
            </a:extLst>
          </p:cNvPr>
          <p:cNvSpPr txBox="1"/>
          <p:nvPr/>
        </p:nvSpPr>
        <p:spPr>
          <a:xfrm>
            <a:off x="7567066" y="5920181"/>
            <a:ext cx="415113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+mn-lt"/>
                <a:cs typeface="+mn-lt"/>
              </a:rPr>
              <a:t>Detect → Assess → Act → Learn → Improve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42240" y="0"/>
            <a:ext cx="12191695" cy="6858000"/>
          </a:xfrm>
          <a:prstGeom prst="rect">
            <a:avLst/>
          </a:prstGeom>
          <a:solidFill>
            <a:srgbClr val="14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CAABE"/>
                </a:solidFill>
              </a:defRPr>
            </a:pPr>
            <a:r>
              <a:t>11 • FINAL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Learning Reflection, References &amp;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BECDE1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40" y="1336040"/>
            <a:ext cx="5328920" cy="4546600"/>
          </a:xfrm>
          <a:prstGeom prst="roundRect">
            <a:avLst/>
          </a:prstGeom>
          <a:solidFill>
            <a:srgbClr val="222F48"/>
          </a:solidFill>
          <a:ln>
            <a:solidFill>
              <a:srgbClr val="415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64008" cy="4434840"/>
          </a:xfrm>
          <a:prstGeom prst="rect">
            <a:avLst/>
          </a:prstGeom>
          <a:solidFill>
            <a:srgbClr val="2C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7928" y="1463039"/>
            <a:ext cx="50017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Learning Reflection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66391"/>
            <a:ext cx="5001768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030">
                <a:solidFill>
                  <a:srgbClr val="E1E8F2"/>
                </a:solidFill>
              </a:defRPr>
            </a:pPr>
            <a:r>
              <a:rPr sz="1400"/>
              <a:t>1. </a:t>
            </a:r>
            <a:r>
              <a:rPr lang="en-US" sz="1400"/>
              <a:t> How</a:t>
            </a:r>
            <a:r>
              <a:rPr sz="1400"/>
              <a:t> transaction, </a:t>
            </a:r>
            <a:r>
              <a:rPr sz="1400" err="1"/>
              <a:t>behavioural</a:t>
            </a:r>
            <a:r>
              <a:rPr sz="1400"/>
              <a:t>, device, location and historical data can be combined for fraud detection.</a:t>
            </a:r>
            <a:br>
              <a:rPr sz="1400"/>
            </a:br>
            <a:br>
              <a:rPr sz="1400"/>
            </a:br>
            <a:r>
              <a:rPr lang="en-US" sz="1400"/>
              <a:t>2. Applying</a:t>
            </a:r>
            <a:r>
              <a:rPr sz="1400"/>
              <a:t> AI/ML to a real business problem requires balancing detection accuracy with customer convenience.</a:t>
            </a:r>
            <a:br>
              <a:rPr sz="1400"/>
            </a:br>
            <a:br>
              <a:rPr sz="1400"/>
            </a:br>
            <a:r>
              <a:rPr sz="1400"/>
              <a:t>3. I learned that prompt engineering makes AI-assisted research more focused, structured and presentation-ready.</a:t>
            </a:r>
            <a:br>
              <a:rPr sz="1400"/>
            </a:br>
            <a:br>
              <a:rPr sz="1400"/>
            </a:br>
            <a:r>
              <a:rPr lang="en-US" sz="1400"/>
              <a:t>Example</a:t>
            </a:r>
            <a:r>
              <a:rPr sz="1400"/>
              <a:t>:</a:t>
            </a:r>
            <a:endParaRPr lang="en-US"/>
          </a:p>
          <a:p>
            <a:pPr>
              <a:defRPr sz="1030">
                <a:solidFill>
                  <a:srgbClr val="E1E8F2"/>
                </a:solidFill>
              </a:defRPr>
            </a:pPr>
            <a:r>
              <a:rPr lang="en-US" sz="1400" b="1">
                <a:ea typeface="+mn-lt"/>
                <a:cs typeface="+mn-lt"/>
              </a:rPr>
              <a:t>Verify AI-Generated Claims</a:t>
            </a:r>
            <a:br>
              <a:rPr lang="en-US" sz="1400">
                <a:ea typeface="+mn-lt"/>
                <a:cs typeface="+mn-lt"/>
              </a:rPr>
            </a:br>
            <a:r>
              <a:rPr lang="en-US" sz="1400">
                <a:ea typeface="+mn-lt"/>
                <a:cs typeface="+mn-lt"/>
              </a:rPr>
              <a:t> AI-generated claims had to be checked against PhonePe’s public security material and annual report rather than treated as automatically correct.</a:t>
            </a:r>
            <a:endParaRPr lang="en-US" sz="1000">
              <a:ea typeface="Calibri"/>
              <a:cs typeface="Calibri"/>
            </a:endParaRPr>
          </a:p>
          <a:p>
            <a:pPr>
              <a:defRPr sz="1030">
                <a:solidFill>
                  <a:srgbClr val="E1E8F2"/>
                </a:solidFill>
              </a:defRPr>
            </a:pPr>
            <a:r>
              <a:rPr lang="en-US" sz="1400" b="1">
                <a:ea typeface="+mn-lt"/>
                <a:cs typeface="+mn-lt"/>
              </a:rPr>
              <a:t>Refine Prompts</a:t>
            </a:r>
            <a:br>
              <a:rPr lang="en-US" sz="1400">
                <a:ea typeface="+mn-lt"/>
                <a:cs typeface="+mn-lt"/>
              </a:rPr>
            </a:br>
            <a:r>
              <a:rPr lang="en-US" sz="1400">
                <a:ea typeface="+mn-lt"/>
                <a:cs typeface="+mn-lt"/>
              </a:rPr>
              <a:t> Adding context, required sections and length constraints reduced generic output and rewriting.</a:t>
            </a:r>
            <a:endParaRPr lang="en-US" sz="1000">
              <a:ea typeface="Calibri"/>
              <a:cs typeface="Calibri"/>
            </a:endParaRPr>
          </a:p>
          <a:p>
            <a:pPr>
              <a:defRPr sz="1030">
                <a:solidFill>
                  <a:srgbClr val="E1E8F2"/>
                </a:solidFill>
              </a:defRPr>
            </a:pPr>
            <a:endParaRPr lang="en-US" sz="1400">
              <a:ea typeface="Calibri"/>
              <a:cs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01080" y="1203960"/>
            <a:ext cx="5476240" cy="2545080"/>
          </a:xfrm>
          <a:prstGeom prst="roundRect">
            <a:avLst/>
          </a:prstGeom>
          <a:solidFill>
            <a:srgbClr val="222F48"/>
          </a:solidFill>
          <a:ln>
            <a:solidFill>
              <a:srgbClr val="415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2520" y="1183640"/>
            <a:ext cx="53848" cy="2565400"/>
          </a:xfrm>
          <a:prstGeom prst="rect">
            <a:avLst/>
          </a:prstGeom>
          <a:solidFill>
            <a:srgbClr val="2A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856231"/>
            <a:ext cx="5047488" cy="5693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930">
                <a:solidFill>
                  <a:srgbClr val="E1E8F2"/>
                </a:solidFill>
              </a:defRPr>
            </a:pPr>
            <a:r>
              <a:rPr lang="en-US" sz="1100">
                <a:ea typeface="Calibri"/>
                <a:cs typeface="Calibri"/>
              </a:rPr>
              <a:t>Anchit Phutela</a:t>
            </a:r>
          </a:p>
          <a:p>
            <a:pPr>
              <a:defRPr sz="930">
                <a:solidFill>
                  <a:srgbClr val="E1E8F2"/>
                </a:solidFill>
              </a:defRPr>
            </a:pPr>
            <a:r>
              <a:rPr lang="en-US" sz="1100">
                <a:ea typeface="+mn-lt"/>
                <a:cs typeface="+mn-lt"/>
              </a:rPr>
              <a:t>https://github.com/anchitphutela-max</a:t>
            </a:r>
            <a:endParaRPr lang="en-US"/>
          </a:p>
          <a:p>
            <a:pPr>
              <a:defRPr sz="930">
                <a:solidFill>
                  <a:srgbClr val="E1E8F2"/>
                </a:solidFill>
              </a:defRPr>
            </a:pPr>
            <a:endParaRPr lang="en-US" sz="900">
              <a:ea typeface="Calibri"/>
              <a:cs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040120" y="3921760"/>
            <a:ext cx="5344160" cy="1910080"/>
          </a:xfrm>
          <a:prstGeom prst="roundRect">
            <a:avLst/>
          </a:prstGeom>
          <a:solidFill>
            <a:srgbClr val="222F48"/>
          </a:solidFill>
          <a:ln>
            <a:solidFill>
              <a:srgbClr val="415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4023360"/>
            <a:ext cx="64008" cy="1737360"/>
          </a:xfrm>
          <a:prstGeom prst="rect">
            <a:avLst/>
          </a:prstGeom>
          <a:solidFill>
            <a:srgbClr val="269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99528" y="1457960"/>
            <a:ext cx="5047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Individual GitHub 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4C3D7"/>
                </a:solidFill>
              </a:defRPr>
            </a:pPr>
            <a:r>
              <a:t>Final submission • BBA FinTech | AI/ML Module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6DCE9A-C95C-E4A8-7D72-3D0B0D26F2AA}"/>
              </a:ext>
            </a:extLst>
          </p:cNvPr>
          <p:cNvSpPr txBox="1"/>
          <p:nvPr/>
        </p:nvSpPr>
        <p:spPr>
          <a:xfrm>
            <a:off x="6368321" y="4503320"/>
            <a:ext cx="392123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solidFill>
                  <a:srgbClr val="E1E8F2"/>
                </a:solidFill>
                <a:ea typeface="Calibri"/>
                <a:cs typeface="Calibri"/>
              </a:rPr>
              <a:t>1. PhonePe — PhonePe Security: Every Payment is Protected on PhonePe.</a:t>
            </a:r>
            <a:br>
              <a:rPr lang="en-US" sz="900">
                <a:solidFill>
                  <a:srgbClr val="E1E8F2"/>
                </a:solidFill>
                <a:ea typeface="Calibri"/>
                <a:cs typeface="Calibri"/>
              </a:rPr>
            </a:br>
            <a:r>
              <a:rPr lang="en-US" sz="900">
                <a:solidFill>
                  <a:srgbClr val="E1E8F2"/>
                </a:solidFill>
                <a:ea typeface="Calibri"/>
                <a:cs typeface="Calibri"/>
              </a:rPr>
              <a:t>2. PhonePe — Guardrails: Real-Time Fraud Detection (11 Feb 2025).</a:t>
            </a:r>
            <a:br>
              <a:rPr lang="en-US" sz="900">
                <a:solidFill>
                  <a:srgbClr val="E1E8F2"/>
                </a:solidFill>
                <a:ea typeface="Calibri"/>
                <a:cs typeface="Calibri"/>
              </a:rPr>
            </a:br>
            <a:r>
              <a:rPr lang="en-US" sz="900">
                <a:solidFill>
                  <a:srgbClr val="E1E8F2"/>
                </a:solidFill>
                <a:ea typeface="Calibri"/>
                <a:cs typeface="Calibri"/>
              </a:rPr>
              <a:t>3. PhonePe — Guardrails: Advanced Risk Detection Features (27 Mar 2025).</a:t>
            </a:r>
            <a:br>
              <a:rPr lang="en-US" sz="900">
                <a:solidFill>
                  <a:srgbClr val="E1E8F2"/>
                </a:solidFill>
                <a:ea typeface="Calibri"/>
                <a:cs typeface="Calibri"/>
              </a:rPr>
            </a:br>
            <a:r>
              <a:rPr lang="en-US" sz="900">
                <a:solidFill>
                  <a:srgbClr val="E1E8F2"/>
                </a:solidFill>
                <a:ea typeface="Calibri"/>
                <a:cs typeface="Calibri"/>
              </a:rPr>
              <a:t>4. PhonePe — Guardrails: Foundations of Trust &amp; Safety (23 Jan 2025).</a:t>
            </a:r>
            <a:br>
              <a:rPr lang="en-US" sz="900">
                <a:solidFill>
                  <a:srgbClr val="E1E8F2"/>
                </a:solidFill>
                <a:ea typeface="Calibri"/>
                <a:cs typeface="Calibri"/>
              </a:rPr>
            </a:br>
            <a:r>
              <a:rPr lang="en-US" sz="900">
                <a:solidFill>
                  <a:srgbClr val="E1E8F2"/>
                </a:solidFill>
                <a:ea typeface="Calibri"/>
                <a:cs typeface="Calibri"/>
              </a:rPr>
              <a:t>5. PhonePe — PhonePe Protect (3 Nov 2025).</a:t>
            </a:r>
            <a:br>
              <a:rPr lang="en-US" sz="900">
                <a:solidFill>
                  <a:srgbClr val="E1E8F2"/>
                </a:solidFill>
                <a:ea typeface="Calibri"/>
                <a:cs typeface="Calibri"/>
              </a:rPr>
            </a:br>
            <a:r>
              <a:rPr lang="en-US" sz="900">
                <a:solidFill>
                  <a:srgbClr val="E1E8F2"/>
                </a:solidFill>
                <a:ea typeface="Calibri"/>
                <a:cs typeface="Calibri"/>
              </a:rPr>
              <a:t>6. PhonePe Annual Report FY2023–24</a:t>
            </a:r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393688" y="4196079"/>
            <a:ext cx="47833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0743" y="0"/>
            <a:ext cx="6903720" cy="6858000"/>
          </a:xfrm>
          <a:prstGeom prst="rect">
            <a:avLst/>
          </a:prstGeom>
          <a:solidFill>
            <a:srgbClr val="091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14560" y="-1808480"/>
            <a:ext cx="3291840" cy="3291840"/>
          </a:xfrm>
          <a:prstGeom prst="ellipse">
            <a:avLst/>
          </a:prstGeom>
          <a:solidFill>
            <a:srgbClr val="2A6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222240" y="5577840"/>
            <a:ext cx="2560320" cy="2560320"/>
          </a:xfrm>
          <a:prstGeom prst="ellipse">
            <a:avLst/>
          </a:prstGeom>
          <a:solidFill>
            <a:srgbClr val="2A6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2266" y="946990"/>
            <a:ext cx="3154197" cy="22986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IN" sz="7200" b="1">
                <a:solidFill>
                  <a:srgbClr val="FFFFFF"/>
                </a:solidFill>
                <a:latin typeface="Aptos"/>
              </a:rPr>
              <a:t>Thank You</a:t>
            </a:r>
            <a:endParaRPr lang="en-IN" sz="72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 i="1">
                <a:solidFill>
                  <a:srgbClr val="C9D8F7"/>
                </a:solidFill>
                <a:latin typeface="Aptos"/>
              </a:rPr>
              <a:t>A Case Study of PhonePe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41648"/>
            <a:ext cx="1417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70832"/>
            <a:ext cx="1554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i="0">
                <a:solidFill>
                  <a:srgbClr val="AABEDC"/>
                </a:solidFill>
                <a:latin typeface="Aptos"/>
              </a:rPr>
              <a:t>Transactions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0552" y="4096512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i="0">
                <a:solidFill>
                  <a:srgbClr val="2A66E1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041648"/>
            <a:ext cx="1417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AI /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370832"/>
            <a:ext cx="1554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i="0">
                <a:solidFill>
                  <a:srgbClr val="AABEDC"/>
                </a:solidFill>
                <a:latin typeface="Aptos"/>
              </a:rPr>
              <a:t>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4096512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i="0">
                <a:solidFill>
                  <a:srgbClr val="2A66E1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041648"/>
            <a:ext cx="1417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370832"/>
            <a:ext cx="1554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i="0">
                <a:solidFill>
                  <a:srgbClr val="AABEDC"/>
                </a:solidFill>
                <a:latin typeface="Aptos"/>
              </a:rPr>
              <a:t>Risk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144768"/>
            <a:ext cx="4846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i="0">
                <a:solidFill>
                  <a:srgbClr val="AABEDC"/>
                </a:solidFill>
                <a:latin typeface="Aptos"/>
              </a:rPr>
              <a:t>BBA FinTech  |  Chitkara University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641640"/>
            <a:ext cx="1384931" cy="307777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l"/>
            <a:r>
              <a:rPr sz="1400" b="1" i="0">
                <a:solidFill>
                  <a:srgbClr val="2A66E1"/>
                </a:solidFill>
                <a:latin typeface="Aptos"/>
              </a:rPr>
              <a:t>SUBMITTED BY</a:t>
            </a:r>
            <a:endParaRPr lang="en-US" sz="1400" b="1" i="0">
              <a:solidFill>
                <a:srgbClr val="2A66E1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52360" y="991118"/>
            <a:ext cx="2669129" cy="523220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l"/>
            <a:r>
              <a:rPr sz="2800" b="1" i="0">
                <a:solidFill>
                  <a:srgbClr val="091834"/>
                </a:solidFill>
                <a:latin typeface="Aptos"/>
              </a:rPr>
              <a:t>Team Members</a:t>
            </a:r>
            <a:endParaRPr lang="en-US" sz="2800" b="1" i="0">
              <a:solidFill>
                <a:srgbClr val="091834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388352" y="1580007"/>
            <a:ext cx="4069080" cy="438912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589520" y="1636776"/>
            <a:ext cx="1143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i="0">
                <a:solidFill>
                  <a:srgbClr val="091834"/>
                </a:solidFill>
                <a:latin typeface="Aptos"/>
              </a:rPr>
              <a:t>Angel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1690300"/>
            <a:ext cx="2430537" cy="276999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l"/>
            <a:r>
              <a:rPr lang="en-US" sz="1200">
                <a:ea typeface="+mn-lt"/>
                <a:cs typeface="+mn-lt"/>
              </a:rPr>
              <a:t>https://github.com/Angelrawal1207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388352" y="2194560"/>
            <a:ext cx="4069080" cy="438912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0" y="2203703"/>
            <a:ext cx="1143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i="0">
                <a:solidFill>
                  <a:srgbClr val="091834"/>
                </a:solidFill>
                <a:latin typeface="Aptos"/>
              </a:rPr>
              <a:t>Ayushi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2257227"/>
            <a:ext cx="2182521" cy="276999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l"/>
            <a:r>
              <a:rPr lang="en-US" sz="1200">
                <a:ea typeface="+mn-lt"/>
                <a:cs typeface="+mn-lt"/>
              </a:rPr>
              <a:t>https://github.com/ayushi27-08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388352" y="2761488"/>
            <a:ext cx="4069080" cy="438912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0" y="2770632"/>
            <a:ext cx="1143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i="0">
                <a:solidFill>
                  <a:srgbClr val="091834"/>
                </a:solidFill>
                <a:latin typeface="Aptos"/>
              </a:rPr>
              <a:t>Arpita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2824156"/>
            <a:ext cx="2198743" cy="276999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l"/>
            <a:r>
              <a:rPr lang="en-US" sz="1200">
                <a:ea typeface="+mn-lt"/>
                <a:cs typeface="+mn-lt"/>
              </a:rPr>
              <a:t>https://github.com/arpitaarora1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388352" y="3328415"/>
            <a:ext cx="4069080" cy="438912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89520" y="3337559"/>
            <a:ext cx="1143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i="0">
                <a:solidFill>
                  <a:srgbClr val="091834"/>
                </a:solidFill>
                <a:latin typeface="Aptos"/>
              </a:rPr>
              <a:t>Arshita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3391083"/>
            <a:ext cx="2562112" cy="276999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https://github.com/arshitakumar3110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88352" y="3895344"/>
            <a:ext cx="4069080" cy="438912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89520" y="3904487"/>
            <a:ext cx="1143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i="0">
                <a:solidFill>
                  <a:srgbClr val="091834"/>
                </a:solidFill>
                <a:latin typeface="Aptos"/>
              </a:rPr>
              <a:t>Ankita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3958011"/>
            <a:ext cx="2499339" cy="276999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l"/>
            <a:r>
              <a:rPr lang="en-US" sz="1200">
                <a:ea typeface="+mn-lt"/>
                <a:cs typeface="+mn-lt"/>
              </a:rPr>
              <a:t>https://github.com/ankitachauhan12</a:t>
            </a:r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7388352" y="4462272"/>
            <a:ext cx="4069080" cy="438912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89520" y="4471416"/>
            <a:ext cx="1143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i="0">
                <a:solidFill>
                  <a:srgbClr val="091834"/>
                </a:solidFill>
                <a:latin typeface="Aptos"/>
              </a:rPr>
              <a:t>Aniketa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4524940"/>
            <a:ext cx="2727478" cy="276999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l"/>
            <a:r>
              <a:rPr lang="en-US" sz="1200">
                <a:ea typeface="+mn-lt"/>
                <a:cs typeface="+mn-lt"/>
              </a:rPr>
              <a:t>https://github.com/aniketalohan-creator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388352" y="5029200"/>
            <a:ext cx="4069080" cy="438912"/>
          </a:xfrm>
          <a:prstGeom prst="roundRect">
            <a:avLst/>
          </a:prstGeom>
          <a:solidFill>
            <a:srgbClr val="F2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0" y="5038344"/>
            <a:ext cx="1143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i="0">
                <a:solidFill>
                  <a:srgbClr val="091834"/>
                </a:solidFill>
                <a:latin typeface="Aptos"/>
              </a:rPr>
              <a:t>Anchit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5091868"/>
            <a:ext cx="2401619" cy="446276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r>
              <a:rPr lang="en-US" sz="1100">
                <a:latin typeface="Calibri"/>
                <a:ea typeface="Calibri"/>
                <a:cs typeface="Calibri"/>
              </a:rPr>
              <a:t>https://github.com/anchitphutela-max</a:t>
            </a:r>
          </a:p>
          <a:p>
            <a:endParaRPr lang="en-US" sz="1200" b="0" i="0">
              <a:latin typeface="Aptos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452360" y="5806440"/>
            <a:ext cx="3566160" cy="22860"/>
          </a:xfrm>
          <a:prstGeom prst="rect">
            <a:avLst/>
          </a:prstGeom>
          <a:solidFill>
            <a:srgbClr val="2A6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1681</Words>
  <Application>Microsoft Office PowerPoint</Application>
  <PresentationFormat>Widescreen</PresentationFormat>
  <Paragraphs>233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angel rawal</cp:lastModifiedBy>
  <cp:revision>4</cp:revision>
  <dcterms:created xsi:type="dcterms:W3CDTF">2013-01-27T09:14:16Z</dcterms:created>
  <dcterms:modified xsi:type="dcterms:W3CDTF">2026-09-17T13:58:31Z</dcterms:modified>
  <cp:category/>
</cp:coreProperties>
</file>